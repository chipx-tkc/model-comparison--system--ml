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5" r:id="rId6"/>
    <p:sldId id="260" r:id="rId7"/>
    <p:sldId id="261" r:id="rId8"/>
    <p:sldId id="262" r:id="rId9"/>
    <p:sldId id="264"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varScale="1">
        <p:scale>
          <a:sx n="78" d="100"/>
          <a:sy n="78" d="100"/>
        </p:scale>
        <p:origin x="73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D381D6D-74D9-4DE4-8840-2666450DBA8C}" type="datetimeFigureOut">
              <a:rPr lang="en-IN" smtClean="0"/>
              <a:t>12-08-2026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3A0671-BE88-416F-B171-E51B33117A46}"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D381D6D-74D9-4DE4-8840-2666450DBA8C}" type="datetimeFigureOut">
              <a:rPr lang="en-IN" smtClean="0"/>
              <a:t>12-08-2026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3A0671-BE88-416F-B171-E51B33117A46}"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381D6D-74D9-4DE4-8840-2666450DBA8C}" type="datetimeFigureOut">
              <a:rPr lang="en-IN" smtClean="0"/>
              <a:t>12-08-2026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3A0671-BE88-416F-B171-E51B33117A46}"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D381D6D-74D9-4DE4-8840-2666450DBA8C}" type="datetimeFigureOut">
              <a:rPr lang="en-IN" smtClean="0"/>
              <a:t>12-08-2026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3A0671-BE88-416F-B171-E51B33117A46}"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D381D6D-74D9-4DE4-8840-2666450DBA8C}" type="datetimeFigureOut">
              <a:rPr lang="en-IN" smtClean="0"/>
              <a:t>12-08-2026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D3A0671-BE88-416F-B171-E51B33117A46}"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D381D6D-74D9-4DE4-8840-2666450DBA8C}" type="datetimeFigureOut">
              <a:rPr lang="en-IN" smtClean="0"/>
              <a:t>12-08-2026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D3A0671-BE88-416F-B171-E51B33117A46}"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381D6D-74D9-4DE4-8840-2666450DBA8C}" type="datetimeFigureOut">
              <a:rPr lang="en-IN" smtClean="0"/>
              <a:t>12-08-2026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D3A0671-BE88-416F-B171-E51B33117A4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D381D6D-74D9-4DE4-8840-2666450DBA8C}" type="datetimeFigureOut">
              <a:rPr lang="en-IN" smtClean="0"/>
              <a:t>12-08-2026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3A0671-BE88-416F-B171-E51B33117A46}"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D381D6D-74D9-4DE4-8840-2666450DBA8C}" type="datetimeFigureOut">
              <a:rPr lang="en-IN" smtClean="0"/>
              <a:t>12-08-2026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3A0671-BE88-416F-B171-E51B33117A46}"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D381D6D-74D9-4DE4-8840-2666450DBA8C}" type="datetimeFigureOut">
              <a:rPr lang="en-IN" smtClean="0"/>
              <a:t>12-08-2026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3A0671-BE88-416F-B171-E51B33117A4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D381D6D-74D9-4DE4-8840-2666450DBA8C}" type="datetimeFigureOut">
              <a:rPr lang="en-IN" smtClean="0"/>
              <a:t>12-08-2026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3A0671-BE88-416F-B171-E51B33117A4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381D6D-74D9-4DE4-8840-2666450DBA8C}" type="datetimeFigureOut">
              <a:rPr lang="en-IN" smtClean="0"/>
              <a:t>12-08-2026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3A0671-BE88-416F-B171-E51B33117A4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a:off x="-330" y="4445"/>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55903" y="1483471"/>
            <a:ext cx="10419198" cy="4666476"/>
          </a:xfrm>
        </p:spPr>
        <p:txBody>
          <a:bodyPr anchor="b">
            <a:noAutofit/>
          </a:bodyPr>
          <a:lstStyle/>
          <a:p>
            <a:r>
              <a:rPr lang="en-US" sz="4800" b="1" dirty="0">
                <a:solidFill>
                  <a:schemeClr val="tx2"/>
                </a:solidFill>
              </a:rPr>
              <a:t>Model Evaluation &amp; Comparison </a:t>
            </a:r>
            <a:br>
              <a:rPr lang="en-US" sz="4800" b="1" dirty="0">
                <a:solidFill>
                  <a:schemeClr val="tx2"/>
                </a:solidFill>
              </a:rPr>
            </a:br>
            <a:r>
              <a:rPr lang="en-US" sz="4800" b="1" dirty="0">
                <a:solidFill>
                  <a:schemeClr val="tx2"/>
                </a:solidFill>
              </a:rPr>
              <a:t>System Using ML</a:t>
            </a:r>
            <a:br>
              <a:rPr lang="en-US" sz="4800" b="1" dirty="0">
                <a:solidFill>
                  <a:schemeClr val="tx2"/>
                </a:solidFill>
              </a:rPr>
            </a:br>
            <a:br>
              <a:rPr lang="en-US" sz="4800" dirty="0">
                <a:latin typeface="Times New Roman" panose="02020603050405020304" pitchFamily="18" charset="0"/>
                <a:cs typeface="Times New Roman" panose="02020603050405020304" pitchFamily="18" charset="0"/>
              </a:rPr>
            </a:br>
            <a:r>
              <a:rPr lang="en-US" sz="48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Presented By: </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24B11CS</a:t>
            </a:r>
            <a:r>
              <a:rPr lang="" altLang="en-US" sz="2400" dirty="0">
                <a:latin typeface="Times New Roman" panose="02020603050405020304" pitchFamily="18" charset="0"/>
                <a:cs typeface="Times New Roman" panose="02020603050405020304" pitchFamily="18" charset="0"/>
              </a:rPr>
              <a:t>403</a:t>
            </a:r>
            <a:r>
              <a:rPr lang="en-US" sz="2400" dirty="0">
                <a:latin typeface="Times New Roman" panose="02020603050405020304" pitchFamily="18" charset="0"/>
                <a:cs typeface="Times New Roman" panose="02020603050405020304" pitchFamily="18" charset="0"/>
              </a:rPr>
              <a:t> -</a:t>
            </a:r>
            <a:r>
              <a:rPr lang="" altLang="en-US" sz="2400" dirty="0">
                <a:latin typeface="Times New Roman" panose="02020603050405020304" pitchFamily="18" charset="0"/>
                <a:cs typeface="Times New Roman" panose="02020603050405020304" pitchFamily="18" charset="0"/>
              </a:rPr>
              <a:t>Savalam</a:t>
            </a:r>
            <a:r>
              <a:rPr lang="en-US" sz="2400" dirty="0">
                <a:latin typeface="Times New Roman" panose="02020603050405020304" pitchFamily="18" charset="0"/>
                <a:cs typeface="Times New Roman" panose="02020603050405020304" pitchFamily="18" charset="0"/>
              </a:rPr>
              <a:t> Vasanthi</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24B11CS540 - </a:t>
            </a:r>
            <a:r>
              <a:rPr lang="en-US" sz="2400" dirty="0" err="1">
                <a:latin typeface="Times New Roman" panose="02020603050405020304" pitchFamily="18" charset="0"/>
                <a:cs typeface="Times New Roman" panose="02020603050405020304" pitchFamily="18" charset="0"/>
              </a:rPr>
              <a:t>Joy</a:t>
            </a:r>
            <a:r>
              <a:rPr lang="" altLang="en-US" sz="2400" dirty="0" err="1">
                <a:latin typeface="Times New Roman" panose="02020603050405020304" pitchFamily="18" charset="0"/>
                <a:cs typeface="Times New Roman" panose="02020603050405020304" pitchFamily="18" charset="0"/>
              </a:rPr>
              <a:t>leen R.Ruvoko</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24B11CS546- Believe</a:t>
            </a:r>
            <a:r>
              <a:rPr lang="" altLang="en-US" sz="2400" dirty="0">
                <a:latin typeface="Times New Roman" panose="02020603050405020304" pitchFamily="18" charset="0"/>
                <a:cs typeface="Times New Roman" panose="02020603050405020304" pitchFamily="18" charset="0"/>
              </a:rPr>
              <a:t> Mangwayana</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24B11CS539 - Takudzwa</a:t>
            </a:r>
            <a:r>
              <a:rPr lang="" altLang="en-US" sz="2400" dirty="0">
                <a:latin typeface="Times New Roman" panose="02020603050405020304" pitchFamily="18" charset="0"/>
                <a:cs typeface="Times New Roman" panose="02020603050405020304" pitchFamily="18" charset="0"/>
              </a:rPr>
              <a:t> Chipimo</a:t>
            </a:r>
          </a:p>
        </p:txBody>
      </p:sp>
      <p:sp>
        <p:nvSpPr>
          <p:cNvPr id="3" name="Subtitle 2"/>
          <p:cNvSpPr>
            <a:spLocks noGrp="1"/>
          </p:cNvSpPr>
          <p:nvPr>
            <p:ph type="subTitle" idx="1"/>
          </p:nvPr>
        </p:nvSpPr>
        <p:spPr>
          <a:xfrm>
            <a:off x="5445941" y="3794078"/>
            <a:ext cx="5990156" cy="2934268"/>
          </a:xfrm>
        </p:spPr>
        <p:txBody>
          <a:bodyPr anchor="ctr">
            <a:normAutofit/>
          </a:bodyPr>
          <a:lstStyle/>
          <a:p>
            <a:pPr algn="l"/>
            <a:r>
              <a:rPr lang="en-US" sz="2000" dirty="0">
                <a:solidFill>
                  <a:schemeClr val="tx2"/>
                </a:solidFill>
              </a:rPr>
              <a:t>                        </a:t>
            </a:r>
            <a:endParaRPr lang="en-IN" sz="2000" dirty="0">
              <a:solidFill>
                <a:schemeClr val="tx2"/>
              </a:solidFill>
            </a:endParaRPr>
          </a:p>
        </p:txBody>
      </p:sp>
      <p:grpSp>
        <p:nvGrpSpPr>
          <p:cNvPr id="14" name="Group 13"/>
          <p:cNvGrpSpPr>
            <a:grpSpLocks noGrp="1" noUngrp="1" noRot="1" noChangeAspect="1" noMove="1" noResize="1"/>
          </p:cNvGrpSpPr>
          <p:nvPr/>
        </p:nvGrpSpPr>
        <p:grpSpPr>
          <a:xfrm flipH="1">
            <a:off x="9676747" y="0"/>
            <a:ext cx="2514948" cy="2174333"/>
            <a:chOff x="-305" y="-4155"/>
            <a:chExt cx="2514948" cy="2174333"/>
          </a:xfrm>
        </p:grpSpPr>
        <p:sp>
          <p:nvSpPr>
            <p:cNvPr id="15" name="Freeform: Shape 14"/>
            <p:cNvSpPr/>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p:cNvSpPr/>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p:cNvSpPr/>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8" name="Freeform: Shape 17"/>
            <p:cNvSpPr/>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p:cNvGrpSpPr>
            <a:grpSpLocks noGrp="1" noUngrp="1" noRot="1" noChangeAspect="1" noMove="1" noResize="1"/>
          </p:cNvGrpSpPr>
          <p:nvPr/>
        </p:nvGrpSpPr>
        <p:grpSpPr>
          <a:xfrm rot="10800000" flipH="1">
            <a:off x="-305" y="4322879"/>
            <a:ext cx="3378428" cy="2535121"/>
            <a:chOff x="-305" y="-1"/>
            <a:chExt cx="3832880" cy="2876136"/>
          </a:xfrm>
        </p:grpSpPr>
        <p:sp>
          <p:nvSpPr>
            <p:cNvPr id="21" name="Freeform: Shape 20"/>
            <p:cNvSpPr/>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p:cNvSpPr/>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p:cNvSpPr/>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p:cNvSpPr/>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9855" y="284131"/>
            <a:ext cx="9052502" cy="11993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TITLE JUSTIFICATION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0687"/>
            <a:ext cx="10515600" cy="4802187"/>
          </a:xfrm>
        </p:spPr>
        <p:txBody>
          <a:bodyPr>
            <a:normAutofit fontScale="92500"/>
          </a:bodyPr>
          <a:lstStyle/>
          <a:p>
            <a:pPr marL="0" indent="0">
              <a:buNone/>
            </a:pPr>
            <a:r>
              <a:rPr lang="en-IN" sz="2400" b="1" dirty="0"/>
              <a:t>Problems Leading to the Project</a:t>
            </a:r>
          </a:p>
          <a:p>
            <a:pPr lvl="0"/>
            <a:r>
              <a:rPr lang="en-IN" sz="2400" b="1" dirty="0"/>
              <a:t>Difficulty in selecting the best ML model:</a:t>
            </a:r>
            <a:r>
              <a:rPr lang="en-IN" sz="2400" dirty="0"/>
              <a:t> There are many machine learning algorithms, and different models can perform differently depending on the dataset.</a:t>
            </a:r>
          </a:p>
          <a:p>
            <a:pPr lvl="0"/>
            <a:r>
              <a:rPr lang="en-IN" sz="2400" b="1" dirty="0"/>
              <a:t>Manual comparison is time-consuming:</a:t>
            </a:r>
            <a:r>
              <a:rPr lang="en-IN" sz="2400" dirty="0"/>
              <a:t> Users often have to train and evaluate models individually, making the process inefficient.</a:t>
            </a:r>
          </a:p>
          <a:p>
            <a:pPr lvl="0"/>
            <a:r>
              <a:rPr lang="en-IN" sz="2400" b="1" dirty="0"/>
              <a:t>Reliance on a single metric can be misleading:</a:t>
            </a:r>
            <a:r>
              <a:rPr lang="en-IN" sz="2400" dirty="0"/>
              <a:t> Choosing a model based only on accuracy may not give a complete picture of its performance.</a:t>
            </a:r>
          </a:p>
          <a:p>
            <a:pPr lvl="0"/>
            <a:r>
              <a:rPr lang="en-IN" sz="2400" b="1" dirty="0"/>
              <a:t>Lack of a simple comparison platform:</a:t>
            </a:r>
            <a:r>
              <a:rPr lang="en-IN" sz="2400" dirty="0"/>
              <a:t> Beginners and researchers may not have an easy-to-use system that evaluates, compares, and recommends suitable models in one place.</a:t>
            </a:r>
          </a:p>
          <a:p>
            <a:pPr marL="0" indent="0">
              <a:buNone/>
            </a:pPr>
            <a:r>
              <a:rPr lang="en-IN" sz="2400" b="1" dirty="0"/>
              <a:t>Therefore</a:t>
            </a:r>
          </a:p>
          <a:p>
            <a:r>
              <a:rPr lang="en-IN" sz="2400" dirty="0"/>
              <a:t>The project was developed to provide a simple and automated platform that evaluates multiple machine learning models, compares their performance using different metrics, and recommends the most suitable model for a given dataset.</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45579"/>
            <a:ext cx="10515600" cy="4631384"/>
          </a:xfrm>
        </p:spPr>
        <p:txBody>
          <a:bodyPr>
            <a:normAutofit/>
          </a:bodyPr>
          <a:lstStyle/>
          <a:p>
            <a:pPr marL="0" indent="0">
              <a:buNone/>
            </a:pPr>
            <a:r>
              <a:rPr lang="en-IN" sz="2400" dirty="0"/>
              <a:t>The increasing use of </a:t>
            </a:r>
            <a:r>
              <a:rPr lang="en-IN" sz="2400" b="1" dirty="0"/>
              <a:t>machine learning (ML)</a:t>
            </a:r>
            <a:r>
              <a:rPr lang="en-IN" sz="2400" dirty="0"/>
              <a:t> across various domains has resulted in a wide range of algorithms, making it challenging to select the most suitable model for a given dataset. This project proposes a </a:t>
            </a:r>
            <a:r>
              <a:rPr lang="en-IN" sz="2400" b="1" dirty="0"/>
              <a:t>Model Evaluation and Comparison System (MECS)</a:t>
            </a:r>
            <a:r>
              <a:rPr lang="en-IN" sz="2400" dirty="0"/>
              <a:t> that provides a systematic platform for </a:t>
            </a:r>
            <a:r>
              <a:rPr lang="en-IN" sz="2400" b="1" dirty="0"/>
              <a:t>data preprocessing, model training, evaluation, and comparison</a:t>
            </a:r>
            <a:r>
              <a:rPr lang="en-IN" sz="2400" dirty="0"/>
              <a:t>. The system will train multiple supervised learning algorithms on a selected dataset and assess their predictive performance using metrics such as </a:t>
            </a:r>
            <a:r>
              <a:rPr lang="en-IN" sz="2400" b="1" dirty="0"/>
              <a:t>accuracy, precision, recall, F1-score, and RMSE</a:t>
            </a:r>
            <a:r>
              <a:rPr lang="en-IN" sz="2400" dirty="0"/>
              <a:t>, depending on the ML task. The results will be presented through comparative tables and visualizations, allowing users to analyse the strengths and limitations of each model. Based on the evaluation results, the system will </a:t>
            </a:r>
            <a:r>
              <a:rPr lang="en-IN" sz="2400" b="1" dirty="0"/>
              <a:t>rank and recommend the most suitable model</a:t>
            </a:r>
            <a:r>
              <a:rPr lang="en-IN" sz="2400" dirty="0"/>
              <a:t>, providing an efficient decision-support tool for machine learning model selection and performance analysis.</a:t>
            </a:r>
          </a:p>
          <a:p>
            <a:pPr marL="0" indent="0" algn="just">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Existing System</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87606"/>
            <a:ext cx="10515600" cy="4408227"/>
          </a:xfrm>
        </p:spPr>
        <p:txBody>
          <a:bodyPr>
            <a:normAutofit/>
          </a:bodyPr>
          <a:lstStyle/>
          <a:p>
            <a:pPr lvl="0"/>
            <a:r>
              <a:rPr lang="en-IN" sz="2400" b="1" dirty="0"/>
              <a:t>Manual model selection:</a:t>
            </a:r>
            <a:r>
              <a:rPr lang="en-IN" sz="2400" dirty="0"/>
              <a:t> Existing approaches often require users to manually train and test different ML algorithms, making model selection </a:t>
            </a:r>
            <a:r>
              <a:rPr lang="en-IN" sz="2400" b="1" dirty="0"/>
              <a:t>time-consuming and inefficient</a:t>
            </a:r>
            <a:r>
              <a:rPr lang="en-IN" sz="2400" dirty="0"/>
              <a:t>.</a:t>
            </a:r>
          </a:p>
          <a:p>
            <a:pPr lvl="0"/>
            <a:r>
              <a:rPr lang="en-IN" sz="2400" b="1" dirty="0"/>
              <a:t>Limited evaluation:</a:t>
            </a:r>
            <a:r>
              <a:rPr lang="en-IN" sz="2400" dirty="0"/>
              <a:t> Models may be evaluated using only a single metric, such as accuracy, which does not provide a </a:t>
            </a:r>
            <a:r>
              <a:rPr lang="en-IN" sz="2400" b="1" dirty="0"/>
              <a:t>complete view of model performance</a:t>
            </a:r>
            <a:r>
              <a:rPr lang="en-IN" sz="2400" dirty="0"/>
              <a:t>.</a:t>
            </a:r>
          </a:p>
          <a:p>
            <a:pPr lvl="0"/>
            <a:r>
              <a:rPr lang="en-IN" sz="2400" b="1" dirty="0"/>
              <a:t>Fragmented results:</a:t>
            </a:r>
            <a:r>
              <a:rPr lang="en-IN" sz="2400" dirty="0"/>
              <a:t> Performance results from different models are often stored or presented separately, making it difficult to </a:t>
            </a:r>
            <a:r>
              <a:rPr lang="en-IN" sz="2400" b="1" dirty="0"/>
              <a:t>compare models consistently</a:t>
            </a:r>
            <a:r>
              <a:rPr lang="en-IN" sz="2400" dirty="0"/>
              <a:t>.</a:t>
            </a:r>
          </a:p>
          <a:p>
            <a:pPr lvl="0"/>
            <a:r>
              <a:rPr lang="en-IN" sz="2400" b="1" dirty="0"/>
              <a:t>Lack of automated recommendation:</a:t>
            </a:r>
            <a:r>
              <a:rPr lang="en-IN" sz="2400" dirty="0"/>
              <a:t> Existing systems generally provide evaluation results but do not automatically </a:t>
            </a:r>
            <a:r>
              <a:rPr lang="en-IN" sz="2400" b="1" dirty="0"/>
              <a:t>rank and recommend the most suitable model</a:t>
            </a:r>
            <a:r>
              <a:rPr lang="en-IN" sz="2400" dirty="0"/>
              <a:t> based on multiple performance metrics.</a:t>
            </a:r>
          </a:p>
          <a:p>
            <a:pPr marL="0" indent="0">
              <a:buNone/>
            </a:pP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334D3-1F0B-37A7-A465-688E63E1BB41}"/>
              </a:ext>
            </a:extLst>
          </p:cNvPr>
          <p:cNvSpPr>
            <a:spLocks noGrp="1"/>
          </p:cNvSpPr>
          <p:nvPr>
            <p:ph type="title"/>
          </p:nvPr>
        </p:nvSpPr>
        <p:spPr/>
        <p:txBody>
          <a:bodyPr/>
          <a:lstStyle/>
          <a:p>
            <a:r>
              <a:rPr lang="en-US" b="1" dirty="0"/>
              <a:t>Literature Survey</a:t>
            </a:r>
            <a:endParaRPr lang="en-IN" b="1" dirty="0"/>
          </a:p>
        </p:txBody>
      </p:sp>
      <p:graphicFrame>
        <p:nvGraphicFramePr>
          <p:cNvPr id="4" name="Content Placeholder 3">
            <a:extLst>
              <a:ext uri="{FF2B5EF4-FFF2-40B4-BE49-F238E27FC236}">
                <a16:creationId xmlns:a16="http://schemas.microsoft.com/office/drawing/2014/main" id="{6CD4120D-A979-BCE7-941C-A401625F8AEA}"/>
              </a:ext>
            </a:extLst>
          </p:cNvPr>
          <p:cNvGraphicFramePr>
            <a:graphicFrameLocks noGrp="1"/>
          </p:cNvGraphicFramePr>
          <p:nvPr>
            <p:ph idx="1"/>
            <p:extLst>
              <p:ext uri="{D42A27DB-BD31-4B8C-83A1-F6EECF244321}">
                <p14:modId xmlns:p14="http://schemas.microsoft.com/office/powerpoint/2010/main" val="4155881867"/>
              </p:ext>
            </p:extLst>
          </p:nvPr>
        </p:nvGraphicFramePr>
        <p:xfrm>
          <a:off x="619432" y="1690688"/>
          <a:ext cx="9851923" cy="4729778"/>
        </p:xfrm>
        <a:graphic>
          <a:graphicData uri="http://schemas.openxmlformats.org/drawingml/2006/table">
            <a:tbl>
              <a:tblPr/>
              <a:tblGrid>
                <a:gridCol w="1838633">
                  <a:extLst>
                    <a:ext uri="{9D8B030D-6E8A-4147-A177-3AD203B41FA5}">
                      <a16:colId xmlns:a16="http://schemas.microsoft.com/office/drawing/2014/main" val="311850456"/>
                    </a:ext>
                  </a:extLst>
                </a:gridCol>
                <a:gridCol w="2753032">
                  <a:extLst>
                    <a:ext uri="{9D8B030D-6E8A-4147-A177-3AD203B41FA5}">
                      <a16:colId xmlns:a16="http://schemas.microsoft.com/office/drawing/2014/main" val="1551823272"/>
                    </a:ext>
                  </a:extLst>
                </a:gridCol>
                <a:gridCol w="2794819">
                  <a:extLst>
                    <a:ext uri="{9D8B030D-6E8A-4147-A177-3AD203B41FA5}">
                      <a16:colId xmlns:a16="http://schemas.microsoft.com/office/drawing/2014/main" val="598072629"/>
                    </a:ext>
                  </a:extLst>
                </a:gridCol>
                <a:gridCol w="2465439">
                  <a:extLst>
                    <a:ext uri="{9D8B030D-6E8A-4147-A177-3AD203B41FA5}">
                      <a16:colId xmlns:a16="http://schemas.microsoft.com/office/drawing/2014/main" val="3920298907"/>
                    </a:ext>
                  </a:extLst>
                </a:gridCol>
              </a:tblGrid>
              <a:tr h="356005">
                <a:tc>
                  <a:txBody>
                    <a:bodyPr/>
                    <a:lstStyle/>
                    <a:p>
                      <a:pPr>
                        <a:buNone/>
                      </a:pPr>
                      <a:r>
                        <a:rPr lang="en-IN" sz="1400" b="1" dirty="0"/>
                        <a:t>Author &amp; Year</a:t>
                      </a:r>
                    </a:p>
                  </a:txBody>
                  <a:tcPr marL="46789" marR="46789" marT="23394" marB="23394" anchor="ctr">
                    <a:lnL>
                      <a:noFill/>
                    </a:lnL>
                    <a:lnR>
                      <a:noFill/>
                    </a:lnR>
                    <a:lnT>
                      <a:noFill/>
                    </a:lnT>
                    <a:lnB>
                      <a:noFill/>
                    </a:lnB>
                    <a:noFill/>
                  </a:tcPr>
                </a:tc>
                <a:tc>
                  <a:txBody>
                    <a:bodyPr/>
                    <a:lstStyle/>
                    <a:p>
                      <a:pPr>
                        <a:buNone/>
                      </a:pPr>
                      <a:r>
                        <a:rPr lang="en-IN" sz="1400" b="1"/>
                        <a:t>Focus of Study</a:t>
                      </a:r>
                    </a:p>
                  </a:txBody>
                  <a:tcPr marL="46789" marR="46789" marT="23394" marB="23394" anchor="ctr">
                    <a:lnL>
                      <a:noFill/>
                    </a:lnL>
                    <a:lnR>
                      <a:noFill/>
                    </a:lnR>
                    <a:lnT>
                      <a:noFill/>
                    </a:lnT>
                    <a:lnB>
                      <a:noFill/>
                    </a:lnB>
                    <a:noFill/>
                  </a:tcPr>
                </a:tc>
                <a:tc>
                  <a:txBody>
                    <a:bodyPr/>
                    <a:lstStyle/>
                    <a:p>
                      <a:pPr>
                        <a:buNone/>
                      </a:pPr>
                      <a:r>
                        <a:rPr lang="en-IN" sz="1400" b="1"/>
                        <a:t>Key Contribution</a:t>
                      </a:r>
                    </a:p>
                  </a:txBody>
                  <a:tcPr marL="46789" marR="46789" marT="23394" marB="23394" anchor="ctr">
                    <a:lnL>
                      <a:noFill/>
                    </a:lnL>
                    <a:lnR>
                      <a:noFill/>
                    </a:lnR>
                    <a:lnT>
                      <a:noFill/>
                    </a:lnT>
                    <a:lnB>
                      <a:noFill/>
                    </a:lnB>
                    <a:noFill/>
                  </a:tcPr>
                </a:tc>
                <a:tc>
                  <a:txBody>
                    <a:bodyPr/>
                    <a:lstStyle/>
                    <a:p>
                      <a:pPr>
                        <a:buNone/>
                      </a:pPr>
                      <a:r>
                        <a:rPr lang="en-IN" sz="1400" b="1" dirty="0"/>
                        <a:t>Relevance to Proposed System</a:t>
                      </a:r>
                    </a:p>
                  </a:txBody>
                  <a:tcPr marL="46789" marR="46789" marT="23394" marB="23394" anchor="ctr">
                    <a:lnL>
                      <a:noFill/>
                    </a:lnL>
                    <a:lnR>
                      <a:noFill/>
                    </a:lnR>
                    <a:lnT>
                      <a:noFill/>
                    </a:lnT>
                    <a:lnB>
                      <a:noFill/>
                    </a:lnB>
                    <a:noFill/>
                  </a:tcPr>
                </a:tc>
                <a:extLst>
                  <a:ext uri="{0D108BD9-81ED-4DB2-BD59-A6C34878D82A}">
                    <a16:rowId xmlns:a16="http://schemas.microsoft.com/office/drawing/2014/main" val="3431882537"/>
                  </a:ext>
                </a:extLst>
              </a:tr>
              <a:tr h="813725">
                <a:tc>
                  <a:txBody>
                    <a:bodyPr/>
                    <a:lstStyle/>
                    <a:p>
                      <a:pPr>
                        <a:buNone/>
                      </a:pPr>
                      <a:r>
                        <a:rPr lang="en-IN" sz="1400" b="1" dirty="0" err="1"/>
                        <a:t>Bacinger</a:t>
                      </a:r>
                      <a:r>
                        <a:rPr lang="en-IN" sz="1400" b="1" dirty="0"/>
                        <a:t> et al. (2022)</a:t>
                      </a:r>
                    </a:p>
                  </a:txBody>
                  <a:tcPr marL="46789" marR="46789" marT="23394" marB="23394" anchor="ctr">
                    <a:lnL>
                      <a:noFill/>
                    </a:lnL>
                    <a:lnR>
                      <a:noFill/>
                    </a:lnR>
                    <a:lnT>
                      <a:noFill/>
                    </a:lnT>
                    <a:lnB>
                      <a:noFill/>
                    </a:lnB>
                    <a:noFill/>
                  </a:tcPr>
                </a:tc>
                <a:tc>
                  <a:txBody>
                    <a:bodyPr/>
                    <a:lstStyle/>
                    <a:p>
                      <a:pPr>
                        <a:buNone/>
                      </a:pPr>
                      <a:r>
                        <a:rPr lang="en-IN" sz="1400"/>
                        <a:t>Semi-automated literature review using ML</a:t>
                      </a:r>
                    </a:p>
                  </a:txBody>
                  <a:tcPr marL="46789" marR="46789" marT="23394" marB="23394" anchor="ctr">
                    <a:lnL>
                      <a:noFill/>
                    </a:lnL>
                    <a:lnR>
                      <a:noFill/>
                    </a:lnR>
                    <a:lnT>
                      <a:noFill/>
                    </a:lnT>
                    <a:lnB>
                      <a:noFill/>
                    </a:lnB>
                    <a:noFill/>
                  </a:tcPr>
                </a:tc>
                <a:tc>
                  <a:txBody>
                    <a:bodyPr/>
                    <a:lstStyle/>
                    <a:p>
                      <a:pPr>
                        <a:buNone/>
                      </a:pPr>
                      <a:r>
                        <a:rPr lang="en-IN" sz="1400"/>
                        <a:t>Demonstrated the use of ML models to improve paper selection and review processes.</a:t>
                      </a:r>
                    </a:p>
                  </a:txBody>
                  <a:tcPr marL="46789" marR="46789" marT="23394" marB="23394" anchor="ctr">
                    <a:lnL>
                      <a:noFill/>
                    </a:lnL>
                    <a:lnR>
                      <a:noFill/>
                    </a:lnR>
                    <a:lnT>
                      <a:noFill/>
                    </a:lnT>
                    <a:lnB>
                      <a:noFill/>
                    </a:lnB>
                    <a:noFill/>
                  </a:tcPr>
                </a:tc>
                <a:tc>
                  <a:txBody>
                    <a:bodyPr/>
                    <a:lstStyle/>
                    <a:p>
                      <a:pPr>
                        <a:buNone/>
                      </a:pPr>
                      <a:r>
                        <a:rPr lang="en-IN" sz="1400" dirty="0"/>
                        <a:t>Shows how ML can </a:t>
                      </a:r>
                      <a:r>
                        <a:rPr lang="en-IN" sz="1400" b="1" dirty="0"/>
                        <a:t>automate and streamline evaluation workflows</a:t>
                      </a:r>
                      <a:r>
                        <a:rPr lang="en-IN" sz="1400" dirty="0"/>
                        <a:t>.</a:t>
                      </a:r>
                    </a:p>
                  </a:txBody>
                  <a:tcPr marL="46789" marR="46789" marT="23394" marB="23394" anchor="ctr">
                    <a:lnL>
                      <a:noFill/>
                    </a:lnL>
                    <a:lnR>
                      <a:noFill/>
                    </a:lnR>
                    <a:lnT>
                      <a:noFill/>
                    </a:lnT>
                    <a:lnB>
                      <a:noFill/>
                    </a:lnB>
                    <a:noFill/>
                  </a:tcPr>
                </a:tc>
                <a:extLst>
                  <a:ext uri="{0D108BD9-81ED-4DB2-BD59-A6C34878D82A}">
                    <a16:rowId xmlns:a16="http://schemas.microsoft.com/office/drawing/2014/main" val="2245805799"/>
                  </a:ext>
                </a:extLst>
              </a:tr>
              <a:tr h="813725">
                <a:tc>
                  <a:txBody>
                    <a:bodyPr/>
                    <a:lstStyle/>
                    <a:p>
                      <a:pPr>
                        <a:buNone/>
                      </a:pPr>
                      <a:r>
                        <a:rPr lang="en-IN" sz="1400" b="1" dirty="0" err="1"/>
                        <a:t>Beddar-Wiesing</a:t>
                      </a:r>
                      <a:r>
                        <a:rPr lang="en-IN" sz="1400" b="1" dirty="0"/>
                        <a:t> et al. (2025)</a:t>
                      </a:r>
                    </a:p>
                  </a:txBody>
                  <a:tcPr marL="46789" marR="46789" marT="23394" marB="23394" anchor="ctr">
                    <a:lnL>
                      <a:noFill/>
                    </a:lnL>
                    <a:lnR>
                      <a:noFill/>
                    </a:lnR>
                    <a:lnT>
                      <a:noFill/>
                    </a:lnT>
                    <a:lnB>
                      <a:noFill/>
                    </a:lnB>
                    <a:noFill/>
                  </a:tcPr>
                </a:tc>
                <a:tc>
                  <a:txBody>
                    <a:bodyPr/>
                    <a:lstStyle/>
                    <a:p>
                      <a:pPr>
                        <a:buNone/>
                      </a:pPr>
                      <a:r>
                        <a:rPr lang="en-IN" sz="1400"/>
                        <a:t>Evaluation measures for classification, regression, clustering and ranking</a:t>
                      </a:r>
                    </a:p>
                  </a:txBody>
                  <a:tcPr marL="46789" marR="46789" marT="23394" marB="23394" anchor="ctr">
                    <a:lnL>
                      <a:noFill/>
                    </a:lnL>
                    <a:lnR>
                      <a:noFill/>
                    </a:lnR>
                    <a:lnT>
                      <a:noFill/>
                    </a:lnT>
                    <a:lnB>
                      <a:noFill/>
                    </a:lnB>
                    <a:noFill/>
                  </a:tcPr>
                </a:tc>
                <a:tc>
                  <a:txBody>
                    <a:bodyPr/>
                    <a:lstStyle/>
                    <a:p>
                      <a:pPr>
                        <a:buNone/>
                      </a:pPr>
                      <a:r>
                        <a:rPr lang="en-IN" sz="1400"/>
                        <a:t>Provided a taxonomy of </a:t>
                      </a:r>
                      <a:r>
                        <a:rPr lang="en-IN" sz="1400" b="1"/>
                        <a:t>absolute evaluation measures</a:t>
                      </a:r>
                      <a:r>
                        <a:rPr lang="en-IN" sz="1400"/>
                        <a:t> for different ML tasks.</a:t>
                      </a:r>
                    </a:p>
                  </a:txBody>
                  <a:tcPr marL="46789" marR="46789" marT="23394" marB="23394" anchor="ctr">
                    <a:lnL>
                      <a:noFill/>
                    </a:lnL>
                    <a:lnR>
                      <a:noFill/>
                    </a:lnR>
                    <a:lnT>
                      <a:noFill/>
                    </a:lnT>
                    <a:lnB>
                      <a:noFill/>
                    </a:lnB>
                    <a:noFill/>
                  </a:tcPr>
                </a:tc>
                <a:tc>
                  <a:txBody>
                    <a:bodyPr/>
                    <a:lstStyle/>
                    <a:p>
                      <a:pPr>
                        <a:buNone/>
                      </a:pPr>
                      <a:r>
                        <a:rPr lang="en-IN" sz="1400" dirty="0"/>
                        <a:t>Helps establish </a:t>
                      </a:r>
                      <a:r>
                        <a:rPr lang="en-IN" sz="1400" b="1" dirty="0"/>
                        <a:t>standardized metrics</a:t>
                      </a:r>
                      <a:r>
                        <a:rPr lang="en-IN" sz="1400" dirty="0"/>
                        <a:t> for comparing models.</a:t>
                      </a:r>
                    </a:p>
                  </a:txBody>
                  <a:tcPr marL="46789" marR="46789" marT="23394" marB="23394" anchor="ctr">
                    <a:lnL>
                      <a:noFill/>
                    </a:lnL>
                    <a:lnR>
                      <a:noFill/>
                    </a:lnR>
                    <a:lnT>
                      <a:noFill/>
                    </a:lnT>
                    <a:lnB>
                      <a:noFill/>
                    </a:lnB>
                    <a:noFill/>
                  </a:tcPr>
                </a:tc>
                <a:extLst>
                  <a:ext uri="{0D108BD9-81ED-4DB2-BD59-A6C34878D82A}">
                    <a16:rowId xmlns:a16="http://schemas.microsoft.com/office/drawing/2014/main" val="4151907253"/>
                  </a:ext>
                </a:extLst>
              </a:tr>
              <a:tr h="813725">
                <a:tc>
                  <a:txBody>
                    <a:bodyPr/>
                    <a:lstStyle/>
                    <a:p>
                      <a:pPr>
                        <a:buNone/>
                      </a:pPr>
                      <a:r>
                        <a:rPr lang="en-IN" sz="1400" b="1" dirty="0"/>
                        <a:t>Sokolova &amp; Lapalme (2009)</a:t>
                      </a:r>
                    </a:p>
                  </a:txBody>
                  <a:tcPr marL="46789" marR="46789" marT="23394" marB="23394" anchor="ctr">
                    <a:lnL>
                      <a:noFill/>
                    </a:lnL>
                    <a:lnR>
                      <a:noFill/>
                    </a:lnR>
                    <a:lnT>
                      <a:noFill/>
                    </a:lnT>
                    <a:lnB>
                      <a:noFill/>
                    </a:lnB>
                    <a:noFill/>
                  </a:tcPr>
                </a:tc>
                <a:tc>
                  <a:txBody>
                    <a:bodyPr/>
                    <a:lstStyle/>
                    <a:p>
                      <a:pPr>
                        <a:buNone/>
                      </a:pPr>
                      <a:r>
                        <a:rPr lang="en-IN" sz="1400"/>
                        <a:t>Classification performance measures</a:t>
                      </a:r>
                    </a:p>
                  </a:txBody>
                  <a:tcPr marL="46789" marR="46789" marT="23394" marB="23394" anchor="ctr">
                    <a:lnL>
                      <a:noFill/>
                    </a:lnL>
                    <a:lnR>
                      <a:noFill/>
                    </a:lnR>
                    <a:lnT>
                      <a:noFill/>
                    </a:lnT>
                    <a:lnB>
                      <a:noFill/>
                    </a:lnB>
                    <a:noFill/>
                  </a:tcPr>
                </a:tc>
                <a:tc>
                  <a:txBody>
                    <a:bodyPr/>
                    <a:lstStyle/>
                    <a:p>
                      <a:pPr>
                        <a:buNone/>
                      </a:pPr>
                      <a:r>
                        <a:rPr lang="en-IN" sz="1400"/>
                        <a:t>Reviewed important measures including </a:t>
                      </a:r>
                      <a:r>
                        <a:rPr lang="en-IN" sz="1400" b="1"/>
                        <a:t>precision, recall, F-measure and ROC</a:t>
                      </a:r>
                      <a:r>
                        <a:rPr lang="en-IN" sz="1400"/>
                        <a:t>.</a:t>
                      </a:r>
                    </a:p>
                  </a:txBody>
                  <a:tcPr marL="46789" marR="46789" marT="23394" marB="23394" anchor="ctr">
                    <a:lnL>
                      <a:noFill/>
                    </a:lnL>
                    <a:lnR>
                      <a:noFill/>
                    </a:lnR>
                    <a:lnT>
                      <a:noFill/>
                    </a:lnT>
                    <a:lnB>
                      <a:noFill/>
                    </a:lnB>
                    <a:noFill/>
                  </a:tcPr>
                </a:tc>
                <a:tc>
                  <a:txBody>
                    <a:bodyPr/>
                    <a:lstStyle/>
                    <a:p>
                      <a:pPr>
                        <a:buNone/>
                      </a:pPr>
                      <a:r>
                        <a:rPr lang="en-IN" sz="1400" dirty="0"/>
                        <a:t>Provides a foundation for selecting </a:t>
                      </a:r>
                      <a:r>
                        <a:rPr lang="en-IN" sz="1400" b="1" dirty="0"/>
                        <a:t>appropriate evaluation metrics</a:t>
                      </a:r>
                      <a:r>
                        <a:rPr lang="en-IN" sz="1400" dirty="0"/>
                        <a:t>.</a:t>
                      </a:r>
                    </a:p>
                  </a:txBody>
                  <a:tcPr marL="46789" marR="46789" marT="23394" marB="23394" anchor="ctr">
                    <a:lnL>
                      <a:noFill/>
                    </a:lnL>
                    <a:lnR>
                      <a:noFill/>
                    </a:lnR>
                    <a:lnT>
                      <a:noFill/>
                    </a:lnT>
                    <a:lnB>
                      <a:noFill/>
                    </a:lnB>
                    <a:noFill/>
                  </a:tcPr>
                </a:tc>
                <a:extLst>
                  <a:ext uri="{0D108BD9-81ED-4DB2-BD59-A6C34878D82A}">
                    <a16:rowId xmlns:a16="http://schemas.microsoft.com/office/drawing/2014/main" val="2496037903"/>
                  </a:ext>
                </a:extLst>
              </a:tr>
              <a:tr h="966299">
                <a:tc>
                  <a:txBody>
                    <a:bodyPr/>
                    <a:lstStyle/>
                    <a:p>
                      <a:pPr>
                        <a:buNone/>
                      </a:pPr>
                      <a:r>
                        <a:rPr lang="en-IN" sz="1400" b="1" dirty="0"/>
                        <a:t>Amodei et al. (2016)</a:t>
                      </a:r>
                    </a:p>
                  </a:txBody>
                  <a:tcPr marL="46789" marR="46789" marT="23394" marB="23394" anchor="ctr">
                    <a:lnL>
                      <a:noFill/>
                    </a:lnL>
                    <a:lnR>
                      <a:noFill/>
                    </a:lnR>
                    <a:lnT>
                      <a:noFill/>
                    </a:lnT>
                    <a:lnB>
                      <a:noFill/>
                    </a:lnB>
                    <a:noFill/>
                  </a:tcPr>
                </a:tc>
                <a:tc>
                  <a:txBody>
                    <a:bodyPr/>
                    <a:lstStyle/>
                    <a:p>
                      <a:pPr>
                        <a:buNone/>
                      </a:pPr>
                      <a:r>
                        <a:rPr lang="en-IN" sz="1400"/>
                        <a:t>Challenges in evaluating deep learning systems</a:t>
                      </a:r>
                    </a:p>
                  </a:txBody>
                  <a:tcPr marL="46789" marR="46789" marT="23394" marB="23394" anchor="ctr">
                    <a:lnL>
                      <a:noFill/>
                    </a:lnL>
                    <a:lnR>
                      <a:noFill/>
                    </a:lnR>
                    <a:lnT>
                      <a:noFill/>
                    </a:lnT>
                    <a:lnB>
                      <a:noFill/>
                    </a:lnB>
                    <a:noFill/>
                  </a:tcPr>
                </a:tc>
                <a:tc>
                  <a:txBody>
                    <a:bodyPr/>
                    <a:lstStyle/>
                    <a:p>
                      <a:pPr>
                        <a:buNone/>
                      </a:pPr>
                      <a:r>
                        <a:rPr lang="en-IN" sz="1400"/>
                        <a:t>Highlighted issues related to </a:t>
                      </a:r>
                      <a:r>
                        <a:rPr lang="en-IN" sz="1400" b="1"/>
                        <a:t>safety, reliability and interpretability</a:t>
                      </a:r>
                      <a:r>
                        <a:rPr lang="en-IN" sz="1400"/>
                        <a:t> of ML models.</a:t>
                      </a:r>
                    </a:p>
                  </a:txBody>
                  <a:tcPr marL="46789" marR="46789" marT="23394" marB="23394" anchor="ctr">
                    <a:lnL>
                      <a:noFill/>
                    </a:lnL>
                    <a:lnR>
                      <a:noFill/>
                    </a:lnR>
                    <a:lnT>
                      <a:noFill/>
                    </a:lnT>
                    <a:lnB>
                      <a:noFill/>
                    </a:lnB>
                    <a:noFill/>
                  </a:tcPr>
                </a:tc>
                <a:tc>
                  <a:txBody>
                    <a:bodyPr/>
                    <a:lstStyle/>
                    <a:p>
                      <a:pPr>
                        <a:buNone/>
                      </a:pPr>
                      <a:r>
                        <a:rPr lang="en-IN" sz="1400" dirty="0"/>
                        <a:t>Emphasizes the importance of considering </a:t>
                      </a:r>
                      <a:r>
                        <a:rPr lang="en-IN" sz="1400" b="1" dirty="0"/>
                        <a:t>model transparency and reliability</a:t>
                      </a:r>
                      <a:r>
                        <a:rPr lang="en-IN" sz="1400" dirty="0"/>
                        <a:t>, not just performance.</a:t>
                      </a:r>
                    </a:p>
                  </a:txBody>
                  <a:tcPr marL="46789" marR="46789" marT="23394" marB="23394" anchor="ctr">
                    <a:lnL>
                      <a:noFill/>
                    </a:lnL>
                    <a:lnR>
                      <a:noFill/>
                    </a:lnR>
                    <a:lnT>
                      <a:noFill/>
                    </a:lnT>
                    <a:lnB>
                      <a:noFill/>
                    </a:lnB>
                    <a:noFill/>
                  </a:tcPr>
                </a:tc>
                <a:extLst>
                  <a:ext uri="{0D108BD9-81ED-4DB2-BD59-A6C34878D82A}">
                    <a16:rowId xmlns:a16="http://schemas.microsoft.com/office/drawing/2014/main" val="3252498280"/>
                  </a:ext>
                </a:extLst>
              </a:tr>
              <a:tr h="966299">
                <a:tc>
                  <a:txBody>
                    <a:bodyPr/>
                    <a:lstStyle/>
                    <a:p>
                      <a:pPr>
                        <a:buNone/>
                      </a:pPr>
                      <a:r>
                        <a:rPr lang="en-IN" sz="1400" b="1" dirty="0"/>
                        <a:t>Kohavi (1995)</a:t>
                      </a:r>
                    </a:p>
                  </a:txBody>
                  <a:tcPr marL="46789" marR="46789" marT="23394" marB="23394" anchor="ctr">
                    <a:lnL>
                      <a:noFill/>
                    </a:lnL>
                    <a:lnR>
                      <a:noFill/>
                    </a:lnR>
                    <a:lnT>
                      <a:noFill/>
                    </a:lnT>
                    <a:lnB>
                      <a:noFill/>
                    </a:lnB>
                    <a:noFill/>
                  </a:tcPr>
                </a:tc>
                <a:tc>
                  <a:txBody>
                    <a:bodyPr/>
                    <a:lstStyle/>
                    <a:p>
                      <a:pPr>
                        <a:buNone/>
                      </a:pPr>
                      <a:r>
                        <a:rPr lang="en-IN" sz="1400"/>
                        <a:t>Cross-validation and bootstrap methods</a:t>
                      </a:r>
                    </a:p>
                  </a:txBody>
                  <a:tcPr marL="46789" marR="46789" marT="23394" marB="23394" anchor="ctr">
                    <a:lnL>
                      <a:noFill/>
                    </a:lnL>
                    <a:lnR>
                      <a:noFill/>
                    </a:lnR>
                    <a:lnT>
                      <a:noFill/>
                    </a:lnT>
                    <a:lnB>
                      <a:noFill/>
                    </a:lnB>
                    <a:noFill/>
                  </a:tcPr>
                </a:tc>
                <a:tc>
                  <a:txBody>
                    <a:bodyPr/>
                    <a:lstStyle/>
                    <a:p>
                      <a:pPr>
                        <a:buNone/>
                      </a:pPr>
                      <a:r>
                        <a:rPr lang="en-IN" sz="1400"/>
                        <a:t>Compared resampling methods and demonstrated the importance of </a:t>
                      </a:r>
                      <a:r>
                        <a:rPr lang="en-IN" sz="1400" b="1"/>
                        <a:t>cross-validation</a:t>
                      </a:r>
                      <a:r>
                        <a:rPr lang="en-IN" sz="1400"/>
                        <a:t> in model evaluation.</a:t>
                      </a:r>
                    </a:p>
                  </a:txBody>
                  <a:tcPr marL="46789" marR="46789" marT="23394" marB="23394" anchor="ctr">
                    <a:lnL>
                      <a:noFill/>
                    </a:lnL>
                    <a:lnR>
                      <a:noFill/>
                    </a:lnR>
                    <a:lnT>
                      <a:noFill/>
                    </a:lnT>
                    <a:lnB>
                      <a:noFill/>
                    </a:lnB>
                    <a:noFill/>
                  </a:tcPr>
                </a:tc>
                <a:tc>
                  <a:txBody>
                    <a:bodyPr/>
                    <a:lstStyle/>
                    <a:p>
                      <a:pPr>
                        <a:buNone/>
                      </a:pPr>
                      <a:r>
                        <a:rPr lang="en-IN" sz="1400" dirty="0"/>
                        <a:t>Supports the use of </a:t>
                      </a:r>
                      <a:r>
                        <a:rPr lang="en-IN" sz="1400" b="1" dirty="0"/>
                        <a:t>cross-validation for fair and reliable model comparison</a:t>
                      </a:r>
                      <a:r>
                        <a:rPr lang="en-IN" sz="1400" dirty="0"/>
                        <a:t>.</a:t>
                      </a:r>
                    </a:p>
                  </a:txBody>
                  <a:tcPr marL="46789" marR="46789" marT="23394" marB="23394" anchor="ctr">
                    <a:lnL>
                      <a:noFill/>
                    </a:lnL>
                    <a:lnR>
                      <a:noFill/>
                    </a:lnR>
                    <a:lnT>
                      <a:noFill/>
                    </a:lnT>
                    <a:lnB>
                      <a:noFill/>
                    </a:lnB>
                    <a:noFill/>
                  </a:tcPr>
                </a:tc>
                <a:extLst>
                  <a:ext uri="{0D108BD9-81ED-4DB2-BD59-A6C34878D82A}">
                    <a16:rowId xmlns:a16="http://schemas.microsoft.com/office/drawing/2014/main" val="2577212473"/>
                  </a:ext>
                </a:extLst>
              </a:tr>
            </a:tbl>
          </a:graphicData>
        </a:graphic>
      </p:graphicFrame>
    </p:spTree>
    <p:extLst>
      <p:ext uri="{BB962C8B-B14F-4D97-AF65-F5344CB8AC3E}">
        <p14:creationId xmlns:p14="http://schemas.microsoft.com/office/powerpoint/2010/main" val="3363272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Proposed System</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lvl="0"/>
            <a:r>
              <a:rPr lang="en-IN" sz="2400" b="1" dirty="0"/>
              <a:t>Automated Data Processing:</a:t>
            </a:r>
            <a:r>
              <a:rPr lang="en-IN" sz="2400" dirty="0"/>
              <a:t> The system will allow users to upload or select a dataset and automatically perform basic preprocessing, including handling missing values, encoding categorical data, and feature scaling where required.</a:t>
            </a:r>
          </a:p>
          <a:p>
            <a:pPr lvl="0"/>
            <a:r>
              <a:rPr lang="en-IN" sz="2400" b="1" dirty="0"/>
              <a:t>Multiple Model Training:</a:t>
            </a:r>
            <a:r>
              <a:rPr lang="en-IN" sz="2400" dirty="0"/>
              <a:t> The system will train several machine learning algorithms, such as </a:t>
            </a:r>
            <a:r>
              <a:rPr lang="en-IN" sz="2400" b="1" dirty="0"/>
              <a:t>Logistic Regression, Decision Tree, Random Forest, KNN, and SVM</a:t>
            </a:r>
            <a:r>
              <a:rPr lang="en-IN" sz="2400" dirty="0"/>
              <a:t>, using the same dataset for fair comparison.</a:t>
            </a:r>
          </a:p>
          <a:p>
            <a:pPr lvl="0"/>
            <a:r>
              <a:rPr lang="en-IN" sz="2400" b="1" dirty="0"/>
              <a:t>Comprehensive Model Evaluation:</a:t>
            </a:r>
            <a:r>
              <a:rPr lang="en-IN" sz="2400" dirty="0"/>
              <a:t> Each model will be tested and evaluated using appropriate ML performance metrics such as </a:t>
            </a:r>
            <a:r>
              <a:rPr lang="en-IN" sz="2400" b="1" dirty="0"/>
              <a:t>accuracy, precision, recall, F1-score, and confusion matrix</a:t>
            </a:r>
            <a:r>
              <a:rPr lang="en-IN" sz="2400" dirty="0"/>
              <a:t>.</a:t>
            </a:r>
          </a:p>
          <a:p>
            <a:pPr lvl="0"/>
            <a:r>
              <a:rPr lang="en-IN" sz="2400" b="1" dirty="0"/>
              <a:t>Model Comparison and Recommendation:</a:t>
            </a:r>
            <a:r>
              <a:rPr lang="en-IN" sz="2400" dirty="0"/>
              <a:t> The system will present the results using </a:t>
            </a:r>
            <a:r>
              <a:rPr lang="en-IN" sz="2400" b="1" dirty="0"/>
              <a:t>tables and visualizations</a:t>
            </a:r>
            <a:r>
              <a:rPr lang="en-IN" sz="2400" dirty="0"/>
              <a:t>, rank the models based on the selected evaluation criteria, and recommend the </a:t>
            </a:r>
            <a:r>
              <a:rPr lang="en-IN" sz="2400" b="1" dirty="0"/>
              <a:t>most suitable-performing model</a:t>
            </a:r>
            <a:r>
              <a:rPr lang="en-IN" sz="2400" dirty="0"/>
              <a:t> for the given dataset.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Methodology</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45578"/>
            <a:ext cx="10515600" cy="4650505"/>
          </a:xfrm>
        </p:spPr>
        <p:txBody>
          <a:bodyPr>
            <a:normAutofit fontScale="92500" lnSpcReduction="10000"/>
          </a:bodyPr>
          <a:lstStyle/>
          <a:p>
            <a:r>
              <a:rPr lang="en-IN" sz="2400" dirty="0"/>
              <a:t>The proposed </a:t>
            </a:r>
            <a:r>
              <a:rPr lang="en-IN" sz="2400" b="1" dirty="0"/>
              <a:t>Model Evaluation and Comparison System (MECS)</a:t>
            </a:r>
            <a:r>
              <a:rPr lang="en-IN" sz="2400" dirty="0"/>
              <a:t> will be developed through the following stages:</a:t>
            </a:r>
          </a:p>
          <a:p>
            <a:pPr lvl="0"/>
            <a:r>
              <a:rPr lang="en-IN" sz="2400" b="1" dirty="0"/>
              <a:t>Dataset Selection &amp; Preprocessing:</a:t>
            </a:r>
            <a:r>
              <a:rPr lang="en-IN" sz="2400" dirty="0"/>
              <a:t> Select a suitable dataset and prepare it by handling missing values, encoding categorical data, and scaling features where necessary. The dataset will then be divided into training and testing sets.</a:t>
            </a:r>
          </a:p>
          <a:p>
            <a:pPr lvl="0"/>
            <a:r>
              <a:rPr lang="en-IN" sz="2400" b="1" dirty="0"/>
              <a:t>Model Training:</a:t>
            </a:r>
            <a:r>
              <a:rPr lang="en-IN" sz="2400" dirty="0"/>
              <a:t> Train multiple machine learning algorithms, such as </a:t>
            </a:r>
            <a:r>
              <a:rPr lang="en-IN" sz="2400" b="1" dirty="0"/>
              <a:t>Logistic Regression, Decision Tree, Random Forest, KNN, and SVM</a:t>
            </a:r>
            <a:r>
              <a:rPr lang="en-IN" sz="2400" dirty="0"/>
              <a:t>, using the same training dataset to ensure a fair comparison.</a:t>
            </a:r>
          </a:p>
          <a:p>
            <a:pPr lvl="0"/>
            <a:r>
              <a:rPr lang="en-IN" sz="2400" b="1" dirty="0"/>
              <a:t>Model Evaluation:</a:t>
            </a:r>
            <a:r>
              <a:rPr lang="en-IN" sz="2400" dirty="0"/>
              <a:t> Test each trained model and measure its performance using appropriate metrics such as </a:t>
            </a:r>
            <a:r>
              <a:rPr lang="en-IN" sz="2400" b="1" dirty="0"/>
              <a:t>accuracy, precision, recall, F1-score, and confusion matrix</a:t>
            </a:r>
            <a:r>
              <a:rPr lang="en-IN" sz="2400" dirty="0"/>
              <a:t>.</a:t>
            </a:r>
          </a:p>
          <a:p>
            <a:pPr lvl="0"/>
            <a:r>
              <a:rPr lang="en-IN" sz="2400" b="1" dirty="0"/>
              <a:t>Model Comparison &amp; Visualization:</a:t>
            </a:r>
            <a:r>
              <a:rPr lang="en-IN" sz="2400" dirty="0"/>
              <a:t> Compare the performance of all models using </a:t>
            </a:r>
            <a:r>
              <a:rPr lang="en-IN" sz="2400" b="1" dirty="0"/>
              <a:t>tables, charts, and graphs</a:t>
            </a:r>
            <a:r>
              <a:rPr lang="en-IN" sz="2400" dirty="0"/>
              <a:t> to clearly identify their strengths and weaknesses.</a:t>
            </a:r>
          </a:p>
          <a:p>
            <a:pPr lvl="0"/>
            <a:r>
              <a:rPr lang="en-IN" sz="2400" b="1" dirty="0"/>
              <a:t>Model Ranking &amp; Recommendation:</a:t>
            </a:r>
            <a:r>
              <a:rPr lang="en-IN" sz="2400" dirty="0"/>
              <a:t> Rank the models based on their evaluation results and recommend the </a:t>
            </a:r>
            <a:r>
              <a:rPr lang="en-IN" sz="2400" b="1" dirty="0"/>
              <a:t>most suitable-performing model</a:t>
            </a:r>
            <a:r>
              <a:rPr lang="en-IN" sz="2400" dirty="0"/>
              <a:t> for the selected dataset.</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34669"/>
            <a:ext cx="10515600" cy="5942294"/>
          </a:xfrm>
        </p:spPr>
        <p:txBody>
          <a:bodyPr/>
          <a:lstStyle/>
          <a:p>
            <a:endParaRPr lang="en-US" dirty="0"/>
          </a:p>
          <a:p>
            <a:pPr marL="0" indent="0">
              <a:buNone/>
            </a:pPr>
            <a:r>
              <a:rPr lang="" altLang="en-IN" b="1" dirty="0"/>
              <a:t>Team Members and Role Allocations</a:t>
            </a:r>
            <a:endParaRPr lang="en-IN" b="1" dirty="0"/>
          </a:p>
          <a:p>
            <a:pPr marL="0" indent="0">
              <a:buNone/>
            </a:pPr>
            <a:endParaRPr lang="en-IN" dirty="0"/>
          </a:p>
          <a:p>
            <a:endParaRPr lang="en-IN" dirty="0"/>
          </a:p>
          <a:p>
            <a:pPr marL="0" indent="0">
              <a:buNone/>
            </a:pPr>
            <a:r>
              <a:rPr lang="en-IN" dirty="0"/>
              <a:t>                             </a:t>
            </a:r>
            <a:endParaRPr lang="en-IN" sz="6000" dirty="0">
              <a:latin typeface="Times New Roman" panose="02020603050405020304" pitchFamily="18" charset="0"/>
              <a:cs typeface="Times New Roman" panose="02020603050405020304" pitchFamily="18" charset="0"/>
            </a:endParaRPr>
          </a:p>
        </p:txBody>
      </p:sp>
      <p:graphicFrame>
        <p:nvGraphicFramePr>
          <p:cNvPr id="2" name="Table 1"/>
          <p:cNvGraphicFramePr/>
          <p:nvPr>
            <p:custDataLst>
              <p:tags r:id="rId1"/>
            </p:custDataLst>
            <p:extLst>
              <p:ext uri="{D42A27DB-BD31-4B8C-83A1-F6EECF244321}">
                <p14:modId xmlns:p14="http://schemas.microsoft.com/office/powerpoint/2010/main" val="2280547875"/>
              </p:ext>
            </p:extLst>
          </p:nvPr>
        </p:nvGraphicFramePr>
        <p:xfrm>
          <a:off x="853440" y="1269365"/>
          <a:ext cx="10485120" cy="5303520"/>
        </p:xfrm>
        <a:graphic>
          <a:graphicData uri="http://schemas.openxmlformats.org/drawingml/2006/table">
            <a:tbl>
              <a:tblPr/>
              <a:tblGrid>
                <a:gridCol w="2621280">
                  <a:extLst>
                    <a:ext uri="{9D8B030D-6E8A-4147-A177-3AD203B41FA5}">
                      <a16:colId xmlns:a16="http://schemas.microsoft.com/office/drawing/2014/main" val="20000"/>
                    </a:ext>
                  </a:extLst>
                </a:gridCol>
                <a:gridCol w="2670441">
                  <a:extLst>
                    <a:ext uri="{9D8B030D-6E8A-4147-A177-3AD203B41FA5}">
                      <a16:colId xmlns:a16="http://schemas.microsoft.com/office/drawing/2014/main" val="20001"/>
                    </a:ext>
                  </a:extLst>
                </a:gridCol>
                <a:gridCol w="2572119">
                  <a:extLst>
                    <a:ext uri="{9D8B030D-6E8A-4147-A177-3AD203B41FA5}">
                      <a16:colId xmlns:a16="http://schemas.microsoft.com/office/drawing/2014/main" val="20002"/>
                    </a:ext>
                  </a:extLst>
                </a:gridCol>
                <a:gridCol w="2621280">
                  <a:extLst>
                    <a:ext uri="{9D8B030D-6E8A-4147-A177-3AD203B41FA5}">
                      <a16:colId xmlns:a16="http://schemas.microsoft.com/office/drawing/2014/main" val="20003"/>
                    </a:ext>
                  </a:extLst>
                </a:gridCol>
              </a:tblGrid>
              <a:tr h="408305">
                <a:tc>
                  <a:txBody>
                    <a:bodyPr/>
                    <a:lstStyle/>
                    <a:p>
                      <a:r>
                        <a:rPr sz="1400" b="1">
                          <a:latin typeface="Times New Roman" panose="02020603050405020304" pitchFamily="18" charset="0"/>
                          <a:cs typeface="Times New Roman" panose="02020603050405020304" pitchFamily="18" charset="0"/>
                        </a:rPr>
                        <a:t>👤 Member</a:t>
                      </a:r>
                    </a:p>
                  </a:txBody>
                  <a:tcPr marL="0" marR="0" marT="0" marB="0" anchor="ctr">
                    <a:lnL>
                      <a:noFill/>
                    </a:lnL>
                    <a:lnR>
                      <a:noFill/>
                    </a:lnR>
                    <a:lnT>
                      <a:noFill/>
                    </a:lnT>
                    <a:lnB>
                      <a:noFill/>
                    </a:lnB>
                    <a:noFill/>
                  </a:tcPr>
                </a:tc>
                <a:tc>
                  <a:txBody>
                    <a:bodyPr/>
                    <a:lstStyle/>
                    <a:p>
                      <a:r>
                        <a:rPr sz="1400" b="1">
                          <a:latin typeface="Times New Roman" panose="02020603050405020304" pitchFamily="18" charset="0"/>
                          <a:cs typeface="Times New Roman" panose="02020603050405020304" pitchFamily="18" charset="0"/>
                        </a:rPr>
                        <a:t>Responsibilities</a:t>
                      </a:r>
                    </a:p>
                  </a:txBody>
                  <a:tcPr marL="0" marR="0" marT="0" marB="0" anchor="ctr">
                    <a:lnL>
                      <a:noFill/>
                    </a:lnL>
                    <a:lnR>
                      <a:noFill/>
                    </a:lnR>
                    <a:lnT>
                      <a:noFill/>
                    </a:lnT>
                    <a:lnB>
                      <a:noFill/>
                    </a:lnB>
                    <a:noFill/>
                  </a:tcPr>
                </a:tc>
                <a:tc>
                  <a:txBody>
                    <a:bodyPr/>
                    <a:lstStyle/>
                    <a:p>
                      <a:r>
                        <a:rPr sz="1400" b="1">
                          <a:latin typeface="Times New Roman" panose="02020603050405020304" pitchFamily="18" charset="0"/>
                          <a:cs typeface="Times New Roman" panose="02020603050405020304" pitchFamily="18" charset="0"/>
                        </a:rPr>
                        <a:t>Deliverables</a:t>
                      </a:r>
                    </a:p>
                  </a:txBody>
                  <a:tcPr marL="0" marR="0" marT="0" marB="0" anchor="ctr">
                    <a:lnL>
                      <a:noFill/>
                    </a:lnL>
                    <a:lnR>
                      <a:noFill/>
                    </a:lnR>
                    <a:lnT>
                      <a:noFill/>
                    </a:lnT>
                    <a:lnB>
                      <a:noFill/>
                    </a:lnB>
                    <a:noFill/>
                  </a:tcPr>
                </a:tc>
                <a:tc>
                  <a:txBody>
                    <a:bodyPr/>
                    <a:lstStyle/>
                    <a:p>
                      <a:r>
                        <a:rPr sz="1400" b="1">
                          <a:latin typeface="Times New Roman" panose="02020603050405020304" pitchFamily="18" charset="0"/>
                          <a:cs typeface="Times New Roman" panose="02020603050405020304" pitchFamily="18" charset="0"/>
                        </a:rPr>
                        <a:t>Tools/Focus</a:t>
                      </a:r>
                    </a:p>
                  </a:txBody>
                  <a:tcPr marL="0" marR="0" marT="0" marB="0" anchor="ctr">
                    <a:lnL>
                      <a:noFill/>
                    </a:lnL>
                    <a:lnR>
                      <a:noFill/>
                    </a:lnR>
                    <a:lnT>
                      <a:noFill/>
                    </a:lnT>
                    <a:lnB>
                      <a:noFill/>
                    </a:lnB>
                    <a:noFill/>
                  </a:tcPr>
                </a:tc>
                <a:extLst>
                  <a:ext uri="{0D108BD9-81ED-4DB2-BD59-A6C34878D82A}">
                    <a16:rowId xmlns:a16="http://schemas.microsoft.com/office/drawing/2014/main" val="10000"/>
                  </a:ext>
                </a:extLst>
              </a:tr>
              <a:tr h="1223010">
                <a:tc>
                  <a:txBody>
                    <a:bodyPr/>
                    <a:lstStyle/>
                    <a:p>
                      <a:r>
                        <a:rPr sz="1400" b="1">
                          <a:latin typeface="Times New Roman" panose="02020603050405020304" pitchFamily="18" charset="0"/>
                          <a:cs typeface="Times New Roman" panose="02020603050405020304" pitchFamily="18" charset="0"/>
                        </a:rPr>
                        <a:t>Member 1 – Data Engineer</a:t>
                      </a:r>
                    </a:p>
                  </a:txBody>
                  <a:tcPr marL="0" marR="0" marT="0" marB="0" anchor="ctr">
                    <a:lnL>
                      <a:noFill/>
                    </a:lnL>
                    <a:lnR>
                      <a:noFill/>
                    </a:lnR>
                    <a:lnT>
                      <a:noFill/>
                    </a:lnT>
                    <a:lnB>
                      <a:noFill/>
                    </a:lnB>
                    <a:noFill/>
                  </a:tcPr>
                </a:tc>
                <a:tc>
                  <a:txBody>
                    <a:bodyPr/>
                    <a:lstStyle/>
                    <a:p>
                      <a:r>
                        <a:rPr sz="1400">
                          <a:latin typeface="Times New Roman" panose="02020603050405020304" pitchFamily="18" charset="0"/>
                          <a:cs typeface="Times New Roman" panose="02020603050405020304" pitchFamily="18" charset="0"/>
                        </a:rPr>
                        <a:t>- Find the dataset - Clean missing values - Encode categorical data - Scale numerical data - Split data into training/testing sets</a:t>
                      </a:r>
                    </a:p>
                  </a:txBody>
                  <a:tcPr marL="0" marR="0" marT="0" marB="0" anchor="ctr">
                    <a:lnL>
                      <a:noFill/>
                    </a:lnL>
                    <a:lnR>
                      <a:noFill/>
                    </a:lnR>
                    <a:lnT>
                      <a:noFill/>
                    </a:lnT>
                    <a:lnB>
                      <a:noFill/>
                    </a:lnB>
                    <a:noFill/>
                  </a:tcPr>
                </a:tc>
                <a:tc>
                  <a:txBody>
                    <a:bodyPr/>
                    <a:lstStyle/>
                    <a:p>
                      <a:r>
                        <a:rPr sz="1400" dirty="0">
                          <a:latin typeface="Times New Roman" panose="02020603050405020304" pitchFamily="18" charset="0"/>
                          <a:cs typeface="Times New Roman" panose="02020603050405020304" pitchFamily="18" charset="0"/>
                        </a:rPr>
                        <a:t>- data_preprocessing.py</a:t>
                      </a:r>
                      <a:endParaRPr lang="en-US" sz="1400" dirty="0">
                        <a:latin typeface="Times New Roman" panose="02020603050405020304" pitchFamily="18" charset="0"/>
                        <a:cs typeface="Times New Roman" panose="02020603050405020304" pitchFamily="18" charset="0"/>
                      </a:endParaRPr>
                    </a:p>
                    <a:p>
                      <a:r>
                        <a:rPr sz="1400" dirty="0">
                          <a:latin typeface="Times New Roman" panose="02020603050405020304" pitchFamily="18" charset="0"/>
                          <a:cs typeface="Times New Roman" panose="02020603050405020304" pitchFamily="18" charset="0"/>
                        </a:rPr>
                        <a:t> - Clean dataset</a:t>
                      </a:r>
                    </a:p>
                  </a:txBody>
                  <a:tcPr marL="0" marR="0" marT="0" marB="0" anchor="ctr">
                    <a:lnL>
                      <a:noFill/>
                    </a:lnL>
                    <a:lnR>
                      <a:noFill/>
                    </a:lnR>
                    <a:lnT>
                      <a:noFill/>
                    </a:lnT>
                    <a:lnB>
                      <a:noFill/>
                    </a:lnB>
                    <a:noFill/>
                  </a:tcPr>
                </a:tc>
                <a:tc>
                  <a:txBody>
                    <a:bodyPr/>
                    <a:lstStyle/>
                    <a:p>
                      <a:r>
                        <a:rPr sz="1400">
                          <a:latin typeface="Times New Roman" panose="02020603050405020304" pitchFamily="18" charset="0"/>
                          <a:cs typeface="Times New Roman" panose="02020603050405020304" pitchFamily="18" charset="0"/>
                        </a:rPr>
                        <a:t>Data preprocessing &amp; preparation</a:t>
                      </a:r>
                    </a:p>
                  </a:txBody>
                  <a:tcPr marL="0" marR="0" marT="0" marB="0" anchor="ctr">
                    <a:lnL>
                      <a:noFill/>
                    </a:lnL>
                    <a:lnR>
                      <a:noFill/>
                    </a:lnR>
                    <a:lnT>
                      <a:noFill/>
                    </a:lnT>
                    <a:lnB>
                      <a:noFill/>
                    </a:lnB>
                    <a:noFill/>
                  </a:tcPr>
                </a:tc>
                <a:extLst>
                  <a:ext uri="{0D108BD9-81ED-4DB2-BD59-A6C34878D82A}">
                    <a16:rowId xmlns:a16="http://schemas.microsoft.com/office/drawing/2014/main" val="10001"/>
                  </a:ext>
                </a:extLst>
              </a:tr>
              <a:tr h="816610">
                <a:tc>
                  <a:txBody>
                    <a:bodyPr/>
                    <a:lstStyle/>
                    <a:p>
                      <a:r>
                        <a:rPr sz="1400" b="1">
                          <a:latin typeface="Times New Roman" panose="02020603050405020304" pitchFamily="18" charset="0"/>
                          <a:cs typeface="Times New Roman" panose="02020603050405020304" pitchFamily="18" charset="0"/>
                        </a:rPr>
                        <a:t>Member 2 – Model Developer</a:t>
                      </a:r>
                    </a:p>
                  </a:txBody>
                  <a:tcPr marL="0" marR="0" marT="0" marB="0" anchor="ctr">
                    <a:lnL>
                      <a:noFill/>
                    </a:lnL>
                    <a:lnR>
                      <a:noFill/>
                    </a:lnR>
                    <a:lnT>
                      <a:noFill/>
                    </a:lnT>
                    <a:lnB>
                      <a:noFill/>
                    </a:lnB>
                    <a:noFill/>
                  </a:tcPr>
                </a:tc>
                <a:tc>
                  <a:txBody>
                    <a:bodyPr/>
                    <a:lstStyle/>
                    <a:p>
                      <a:r>
                        <a:rPr sz="1400">
                          <a:latin typeface="Times New Roman" panose="02020603050405020304" pitchFamily="18" charset="0"/>
                          <a:cs typeface="Times New Roman" panose="02020603050405020304" pitchFamily="18" charset="0"/>
                        </a:rPr>
                        <a:t>- Train models: • Logistic Regression • Decision Tree • Random Forest • KNN • SVM</a:t>
                      </a:r>
                    </a:p>
                  </a:txBody>
                  <a:tcPr marL="0" marR="0" marT="0" marB="0" anchor="ctr">
                    <a:lnL>
                      <a:noFill/>
                    </a:lnL>
                    <a:lnR>
                      <a:noFill/>
                    </a:lnR>
                    <a:lnT>
                      <a:noFill/>
                    </a:lnT>
                    <a:lnB>
                      <a:noFill/>
                    </a:lnB>
                    <a:noFill/>
                  </a:tcPr>
                </a:tc>
                <a:tc>
                  <a:txBody>
                    <a:bodyPr/>
                    <a:lstStyle/>
                    <a:p>
                      <a:r>
                        <a:rPr sz="1400">
                          <a:latin typeface="Times New Roman" panose="02020603050405020304" pitchFamily="18" charset="0"/>
                          <a:cs typeface="Times New Roman" panose="02020603050405020304" pitchFamily="18" charset="0"/>
                        </a:rPr>
                        <a:t>- train_models.py</a:t>
                      </a:r>
                    </a:p>
                  </a:txBody>
                  <a:tcPr marL="0" marR="0" marT="0" marB="0" anchor="ctr">
                    <a:lnL>
                      <a:noFill/>
                    </a:lnL>
                    <a:lnR>
                      <a:noFill/>
                    </a:lnR>
                    <a:lnT>
                      <a:noFill/>
                    </a:lnT>
                    <a:lnB>
                      <a:noFill/>
                    </a:lnB>
                    <a:noFill/>
                  </a:tcPr>
                </a:tc>
                <a:tc>
                  <a:txBody>
                    <a:bodyPr/>
                    <a:lstStyle/>
                    <a:p>
                      <a:r>
                        <a:rPr sz="1400">
                          <a:latin typeface="Times New Roman" panose="02020603050405020304" pitchFamily="18" charset="0"/>
                          <a:cs typeface="Times New Roman" panose="02020603050405020304" pitchFamily="18" charset="0"/>
                        </a:rPr>
                        <a:t>Machine learning model training</a:t>
                      </a:r>
                    </a:p>
                  </a:txBody>
                  <a:tcPr marL="0" marR="0" marT="0" marB="0" anchor="ctr">
                    <a:lnL>
                      <a:noFill/>
                    </a:lnL>
                    <a:lnR>
                      <a:noFill/>
                    </a:lnR>
                    <a:lnT>
                      <a:noFill/>
                    </a:lnT>
                    <a:lnB>
                      <a:noFill/>
                    </a:lnB>
                    <a:noFill/>
                  </a:tcPr>
                </a:tc>
                <a:extLst>
                  <a:ext uri="{0D108BD9-81ED-4DB2-BD59-A6C34878D82A}">
                    <a16:rowId xmlns:a16="http://schemas.microsoft.com/office/drawing/2014/main" val="10002"/>
                  </a:ext>
                </a:extLst>
              </a:tr>
              <a:tr h="1631315">
                <a:tc>
                  <a:txBody>
                    <a:bodyPr/>
                    <a:lstStyle/>
                    <a:p>
                      <a:r>
                        <a:rPr sz="1400" b="1">
                          <a:latin typeface="Times New Roman" panose="02020603050405020304" pitchFamily="18" charset="0"/>
                          <a:cs typeface="Times New Roman" panose="02020603050405020304" pitchFamily="18" charset="0"/>
                        </a:rPr>
                        <a:t>Member 3 – Evaluation Engineer</a:t>
                      </a:r>
                    </a:p>
                  </a:txBody>
                  <a:tcPr marL="0" marR="0" marT="0" marB="0" anchor="ctr">
                    <a:lnL>
                      <a:noFill/>
                    </a:lnL>
                    <a:lnR>
                      <a:noFill/>
                    </a:lnR>
                    <a:lnT>
                      <a:noFill/>
                    </a:lnT>
                    <a:lnB>
                      <a:noFill/>
                    </a:lnB>
                    <a:noFill/>
                  </a:tcPr>
                </a:tc>
                <a:tc>
                  <a:txBody>
                    <a:bodyPr/>
                    <a:lstStyle/>
                    <a:p>
                      <a:r>
                        <a:rPr sz="1400">
                          <a:latin typeface="Times New Roman" panose="02020603050405020304" pitchFamily="18" charset="0"/>
                          <a:cs typeface="Times New Roman" panose="02020603050405020304" pitchFamily="18" charset="0"/>
                        </a:rPr>
                        <a:t>- Evaluate models using: • Accuracy • Precision • Recall • F1-score • Confusion Matrix • Cross-validation - Generate comparison tables &amp; charts</a:t>
                      </a:r>
                    </a:p>
                  </a:txBody>
                  <a:tcPr marL="0" marR="0" marT="0" marB="0" anchor="ctr">
                    <a:lnL>
                      <a:noFill/>
                    </a:lnL>
                    <a:lnR>
                      <a:noFill/>
                    </a:lnR>
                    <a:lnT>
                      <a:noFill/>
                    </a:lnT>
                    <a:lnB>
                      <a:noFill/>
                    </a:lnB>
                    <a:noFill/>
                  </a:tcPr>
                </a:tc>
                <a:tc>
                  <a:txBody>
                    <a:bodyPr/>
                    <a:lstStyle/>
                    <a:p>
                      <a:r>
                        <a:rPr sz="1400">
                          <a:latin typeface="Times New Roman" panose="02020603050405020304" pitchFamily="18" charset="0"/>
                          <a:cs typeface="Times New Roman" panose="02020603050405020304" pitchFamily="18" charset="0"/>
                        </a:rPr>
                        <a:t>- evaluation.py</a:t>
                      </a:r>
                    </a:p>
                  </a:txBody>
                  <a:tcPr marL="0" marR="0" marT="0" marB="0" anchor="ctr">
                    <a:lnL>
                      <a:noFill/>
                    </a:lnL>
                    <a:lnR>
                      <a:noFill/>
                    </a:lnR>
                    <a:lnT>
                      <a:noFill/>
                    </a:lnT>
                    <a:lnB>
                      <a:noFill/>
                    </a:lnB>
                    <a:noFill/>
                  </a:tcPr>
                </a:tc>
                <a:tc>
                  <a:txBody>
                    <a:bodyPr/>
                    <a:lstStyle/>
                    <a:p>
                      <a:r>
                        <a:rPr sz="1400">
                          <a:latin typeface="Times New Roman" panose="02020603050405020304" pitchFamily="18" charset="0"/>
                          <a:cs typeface="Times New Roman" panose="02020603050405020304" pitchFamily="18" charset="0"/>
                        </a:rPr>
                        <a:t>Model evaluation &amp; performance analysis</a:t>
                      </a:r>
                    </a:p>
                  </a:txBody>
                  <a:tcPr marL="0" marR="0" marT="0" marB="0" anchor="ctr">
                    <a:lnL>
                      <a:noFill/>
                    </a:lnL>
                    <a:lnR>
                      <a:noFill/>
                    </a:lnR>
                    <a:lnT>
                      <a:noFill/>
                    </a:lnT>
                    <a:lnB>
                      <a:noFill/>
                    </a:lnB>
                    <a:noFill/>
                  </a:tcPr>
                </a:tc>
                <a:extLst>
                  <a:ext uri="{0D108BD9-81ED-4DB2-BD59-A6C34878D82A}">
                    <a16:rowId xmlns:a16="http://schemas.microsoft.com/office/drawing/2014/main" val="10003"/>
                  </a:ext>
                </a:extLst>
              </a:tr>
              <a:tr h="1224280">
                <a:tc>
                  <a:txBody>
                    <a:bodyPr/>
                    <a:lstStyle/>
                    <a:p>
                      <a:r>
                        <a:rPr sz="1400" b="1">
                          <a:latin typeface="Times New Roman" panose="02020603050405020304" pitchFamily="18" charset="0"/>
                          <a:cs typeface="Times New Roman" panose="02020603050405020304" pitchFamily="18" charset="0"/>
                        </a:rPr>
                        <a:t>Member 4 – Frontend &amp; Integration</a:t>
                      </a:r>
                    </a:p>
                  </a:txBody>
                  <a:tcPr marL="0" marR="0" marT="0" marB="0" anchor="ctr">
                    <a:lnL>
                      <a:noFill/>
                    </a:lnL>
                    <a:lnR>
                      <a:noFill/>
                    </a:lnR>
                    <a:lnT>
                      <a:noFill/>
                    </a:lnT>
                    <a:lnB>
                      <a:noFill/>
                    </a:lnB>
                    <a:noFill/>
                  </a:tcPr>
                </a:tc>
                <a:tc>
                  <a:txBody>
                    <a:bodyPr/>
                    <a:lstStyle/>
                    <a:p>
                      <a:r>
                        <a:rPr sz="1400">
                          <a:latin typeface="Times New Roman" panose="02020603050405020304" pitchFamily="18" charset="0"/>
                          <a:cs typeface="Times New Roman" panose="02020603050405020304" pitchFamily="18" charset="0"/>
                        </a:rPr>
                        <a:t>- Develop Streamlit UI - Features: • Upload dataset • Train models • Display metrics • Show graphs • Highlight best model</a:t>
                      </a:r>
                    </a:p>
                  </a:txBody>
                  <a:tcPr marL="0" marR="0" marT="0" marB="0" anchor="ctr">
                    <a:lnL>
                      <a:noFill/>
                    </a:lnL>
                    <a:lnR>
                      <a:noFill/>
                    </a:lnR>
                    <a:lnT>
                      <a:noFill/>
                    </a:lnT>
                    <a:lnB>
                      <a:noFill/>
                    </a:lnB>
                    <a:noFill/>
                  </a:tcPr>
                </a:tc>
                <a:tc>
                  <a:txBody>
                    <a:bodyPr/>
                    <a:lstStyle/>
                    <a:p>
                      <a:r>
                        <a:rPr sz="1400">
                          <a:latin typeface="Times New Roman" panose="02020603050405020304" pitchFamily="18" charset="0"/>
                          <a:cs typeface="Times New Roman" panose="02020603050405020304" pitchFamily="18" charset="0"/>
                        </a:rPr>
                        <a:t>- app.py</a:t>
                      </a:r>
                    </a:p>
                  </a:txBody>
                  <a:tcPr marL="0" marR="0" marT="0" marB="0" anchor="ctr">
                    <a:lnL>
                      <a:noFill/>
                    </a:lnL>
                    <a:lnR>
                      <a:noFill/>
                    </a:lnR>
                    <a:lnT>
                      <a:noFill/>
                    </a:lnT>
                    <a:lnB>
                      <a:noFill/>
                    </a:lnB>
                    <a:noFill/>
                  </a:tcPr>
                </a:tc>
                <a:tc>
                  <a:txBody>
                    <a:bodyPr/>
                    <a:lstStyle/>
                    <a:p>
                      <a:r>
                        <a:rPr sz="1400" dirty="0">
                          <a:latin typeface="Times New Roman" panose="02020603050405020304" pitchFamily="18" charset="0"/>
                          <a:cs typeface="Times New Roman" panose="02020603050405020304" pitchFamily="18" charset="0"/>
                        </a:rPr>
                        <a:t>User interface &amp; integration</a:t>
                      </a:r>
                    </a:p>
                  </a:txBody>
                  <a:tcPr marL="0" marR="0" marT="0" marB="0" anchor="ctr">
                    <a:lnL>
                      <a:noFill/>
                    </a:lnL>
                    <a:lnR>
                      <a:noFill/>
                    </a:lnR>
                    <a:lnT>
                      <a:noFill/>
                    </a:lnT>
                    <a:lnB>
                      <a:no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 altLang="en-GB" b="1"/>
              <a:t>Technologies Used</a:t>
            </a:r>
          </a:p>
        </p:txBody>
      </p:sp>
      <p:sp>
        <p:nvSpPr>
          <p:cNvPr id="3" name="Content Placeholder 2"/>
          <p:cNvSpPr>
            <a:spLocks noGrp="1"/>
          </p:cNvSpPr>
          <p:nvPr>
            <p:ph idx="1"/>
          </p:nvPr>
        </p:nvSpPr>
        <p:spPr>
          <a:xfrm>
            <a:off x="838200" y="1459865"/>
            <a:ext cx="10515600" cy="4717415"/>
          </a:xfrm>
        </p:spPr>
        <p:txBody>
          <a:bodyPr/>
          <a:lstStyle/>
          <a:p>
            <a:pPr marL="0" indent="0">
              <a:buNone/>
            </a:pPr>
            <a:r>
              <a:rPr lang="" altLang="en-GB" sz="2000"/>
              <a:t>The table below shows the tools used by each member to achieve the set goal.</a:t>
            </a:r>
          </a:p>
          <a:p>
            <a:pPr marL="0" indent="0">
              <a:buNone/>
            </a:pPr>
            <a:endParaRPr lang="" altLang="en-GB" sz="2000"/>
          </a:p>
        </p:txBody>
      </p:sp>
      <p:graphicFrame>
        <p:nvGraphicFramePr>
          <p:cNvPr id="7" name="Table 6"/>
          <p:cNvGraphicFramePr/>
          <p:nvPr>
            <p:custDataLst>
              <p:tags r:id="rId1"/>
            </p:custDataLst>
          </p:nvPr>
        </p:nvGraphicFramePr>
        <p:xfrm>
          <a:off x="853440" y="2339340"/>
          <a:ext cx="10485120" cy="4416425"/>
        </p:xfrm>
        <a:graphic>
          <a:graphicData uri="http://schemas.openxmlformats.org/drawingml/2006/table">
            <a:tbl>
              <a:tblPr/>
              <a:tblGrid>
                <a:gridCol w="2621280">
                  <a:extLst>
                    <a:ext uri="{9D8B030D-6E8A-4147-A177-3AD203B41FA5}">
                      <a16:colId xmlns:a16="http://schemas.microsoft.com/office/drawing/2014/main" val="20000"/>
                    </a:ext>
                  </a:extLst>
                </a:gridCol>
                <a:gridCol w="2621280">
                  <a:extLst>
                    <a:ext uri="{9D8B030D-6E8A-4147-A177-3AD203B41FA5}">
                      <a16:colId xmlns:a16="http://schemas.microsoft.com/office/drawing/2014/main" val="20001"/>
                    </a:ext>
                  </a:extLst>
                </a:gridCol>
                <a:gridCol w="2621280">
                  <a:extLst>
                    <a:ext uri="{9D8B030D-6E8A-4147-A177-3AD203B41FA5}">
                      <a16:colId xmlns:a16="http://schemas.microsoft.com/office/drawing/2014/main" val="20002"/>
                    </a:ext>
                  </a:extLst>
                </a:gridCol>
                <a:gridCol w="2621280">
                  <a:extLst>
                    <a:ext uri="{9D8B030D-6E8A-4147-A177-3AD203B41FA5}">
                      <a16:colId xmlns:a16="http://schemas.microsoft.com/office/drawing/2014/main" val="20003"/>
                    </a:ext>
                  </a:extLst>
                </a:gridCol>
              </a:tblGrid>
              <a:tr h="339725">
                <a:tc>
                  <a:txBody>
                    <a:bodyPr/>
                    <a:lstStyle/>
                    <a:p>
                      <a:r>
                        <a:rPr sz="1400" b="1"/>
                        <a:t>Member</a:t>
                      </a:r>
                    </a:p>
                  </a:txBody>
                  <a:tcPr marL="0" marR="0" marT="0" marB="0" anchor="ctr">
                    <a:lnL>
                      <a:noFill/>
                    </a:lnL>
                    <a:lnR>
                      <a:noFill/>
                    </a:lnR>
                    <a:lnT>
                      <a:noFill/>
                    </a:lnT>
                    <a:lnB>
                      <a:noFill/>
                    </a:lnB>
                    <a:noFill/>
                  </a:tcPr>
                </a:tc>
                <a:tc>
                  <a:txBody>
                    <a:bodyPr/>
                    <a:lstStyle/>
                    <a:p>
                      <a:r>
                        <a:rPr sz="1400" b="1"/>
                        <a:t>Responsibilities</a:t>
                      </a:r>
                    </a:p>
                  </a:txBody>
                  <a:tcPr marL="0" marR="0" marT="0" marB="0" anchor="ctr">
                    <a:lnL>
                      <a:noFill/>
                    </a:lnL>
                    <a:lnR>
                      <a:noFill/>
                    </a:lnR>
                    <a:lnT>
                      <a:noFill/>
                    </a:lnT>
                    <a:lnB>
                      <a:noFill/>
                    </a:lnB>
                    <a:noFill/>
                  </a:tcPr>
                </a:tc>
                <a:tc>
                  <a:txBody>
                    <a:bodyPr/>
                    <a:lstStyle/>
                    <a:p>
                      <a:r>
                        <a:rPr sz="1400" b="1"/>
                        <a:t>Deliverables</a:t>
                      </a:r>
                    </a:p>
                  </a:txBody>
                  <a:tcPr marL="0" marR="0" marT="0" marB="0" anchor="ctr">
                    <a:lnL>
                      <a:noFill/>
                    </a:lnL>
                    <a:lnR>
                      <a:noFill/>
                    </a:lnR>
                    <a:lnT>
                      <a:noFill/>
                    </a:lnT>
                    <a:lnB>
                      <a:noFill/>
                    </a:lnB>
                    <a:noFill/>
                  </a:tcPr>
                </a:tc>
                <a:tc>
                  <a:txBody>
                    <a:bodyPr/>
                    <a:lstStyle/>
                    <a:p>
                      <a:r>
                        <a:rPr sz="1400" b="1"/>
                        <a:t>Technologies / Libraries</a:t>
                      </a:r>
                    </a:p>
                  </a:txBody>
                  <a:tcPr marL="0" marR="0" marT="0" marB="0" anchor="ctr">
                    <a:lnL>
                      <a:noFill/>
                    </a:lnL>
                    <a:lnR>
                      <a:noFill/>
                    </a:lnR>
                    <a:lnT>
                      <a:noFill/>
                    </a:lnT>
                    <a:lnB>
                      <a:noFill/>
                    </a:lnB>
                    <a:noFill/>
                  </a:tcPr>
                </a:tc>
                <a:extLst>
                  <a:ext uri="{0D108BD9-81ED-4DB2-BD59-A6C34878D82A}">
                    <a16:rowId xmlns:a16="http://schemas.microsoft.com/office/drawing/2014/main" val="10000"/>
                  </a:ext>
                </a:extLst>
              </a:tr>
              <a:tr h="1019175">
                <a:tc>
                  <a:txBody>
                    <a:bodyPr/>
                    <a:lstStyle/>
                    <a:p>
                      <a:r>
                        <a:rPr sz="1400" b="1"/>
                        <a:t>Member 1 – Data Engineer</a:t>
                      </a:r>
                    </a:p>
                  </a:txBody>
                  <a:tcPr marL="0" marR="0" marT="0" marB="0" anchor="ctr">
                    <a:lnL>
                      <a:noFill/>
                    </a:lnL>
                    <a:lnR>
                      <a:noFill/>
                    </a:lnR>
                    <a:lnT>
                      <a:noFill/>
                    </a:lnT>
                    <a:lnB>
                      <a:noFill/>
                    </a:lnB>
                    <a:noFill/>
                  </a:tcPr>
                </a:tc>
                <a:tc>
                  <a:txBody>
                    <a:bodyPr/>
                    <a:lstStyle/>
                    <a:p>
                      <a:r>
                        <a:rPr sz="1400"/>
                        <a:t>- Find dataset - Clean missing values - Encode categorical data - Scale numerical data - Split into train/test sets</a:t>
                      </a:r>
                    </a:p>
                  </a:txBody>
                  <a:tcPr marL="0" marR="0" marT="0" marB="0" anchor="ctr">
                    <a:lnL>
                      <a:noFill/>
                    </a:lnL>
                    <a:lnR>
                      <a:noFill/>
                    </a:lnR>
                    <a:lnT>
                      <a:noFill/>
                    </a:lnT>
                    <a:lnB>
                      <a:noFill/>
                    </a:lnB>
                    <a:noFill/>
                  </a:tcPr>
                </a:tc>
                <a:tc>
                  <a:txBody>
                    <a:bodyPr/>
                    <a:lstStyle/>
                    <a:p>
                      <a:r>
                        <a:rPr sz="1400"/>
                        <a:t>- data_preprocessing.py </a:t>
                      </a:r>
                    </a:p>
                    <a:p>
                      <a:r>
                        <a:rPr sz="1400"/>
                        <a:t>- Clean dataset</a:t>
                      </a:r>
                    </a:p>
                  </a:txBody>
                  <a:tcPr marL="0" marR="0" marT="0" marB="0" anchor="ctr">
                    <a:lnL>
                      <a:noFill/>
                    </a:lnL>
                    <a:lnR>
                      <a:noFill/>
                    </a:lnR>
                    <a:lnT>
                      <a:noFill/>
                    </a:lnT>
                    <a:lnB>
                      <a:noFill/>
                    </a:lnB>
                    <a:noFill/>
                  </a:tcPr>
                </a:tc>
                <a:tc>
                  <a:txBody>
                    <a:bodyPr/>
                    <a:lstStyle/>
                    <a:p>
                      <a:r>
                        <a:rPr sz="1400"/>
                        <a:t>Python </a:t>
                      </a:r>
                      <a:r>
                        <a:rPr lang="" sz="1400"/>
                        <a:t>,</a:t>
                      </a:r>
                      <a:r>
                        <a:rPr sz="1400"/>
                        <a:t> pandas </a:t>
                      </a:r>
                      <a:r>
                        <a:rPr lang="" sz="1400"/>
                        <a:t>,</a:t>
                      </a:r>
                      <a:r>
                        <a:rPr sz="1400"/>
                        <a:t> numpy </a:t>
                      </a:r>
                      <a:r>
                        <a:rPr lang="" sz="1400"/>
                        <a:t>,</a:t>
                      </a:r>
                      <a:r>
                        <a:rPr sz="1400"/>
                        <a:t>scikit-learn.preprocessing</a:t>
                      </a:r>
                    </a:p>
                  </a:txBody>
                  <a:tcPr marL="0" marR="0" marT="0" marB="0" anchor="ctr">
                    <a:lnL>
                      <a:noFill/>
                    </a:lnL>
                    <a:lnR>
                      <a:noFill/>
                    </a:lnR>
                    <a:lnT>
                      <a:noFill/>
                    </a:lnT>
                    <a:lnB>
                      <a:noFill/>
                    </a:lnB>
                    <a:noFill/>
                  </a:tcPr>
                </a:tc>
                <a:extLst>
                  <a:ext uri="{0D108BD9-81ED-4DB2-BD59-A6C34878D82A}">
                    <a16:rowId xmlns:a16="http://schemas.microsoft.com/office/drawing/2014/main" val="10001"/>
                  </a:ext>
                </a:extLst>
              </a:tr>
              <a:tr h="679450">
                <a:tc>
                  <a:txBody>
                    <a:bodyPr/>
                    <a:lstStyle/>
                    <a:p>
                      <a:r>
                        <a:rPr sz="1400" b="1"/>
                        <a:t>Member 2 – Model Developer</a:t>
                      </a:r>
                    </a:p>
                  </a:txBody>
                  <a:tcPr marL="0" marR="0" marT="0" marB="0" anchor="ctr">
                    <a:lnL>
                      <a:noFill/>
                    </a:lnL>
                    <a:lnR>
                      <a:noFill/>
                    </a:lnR>
                    <a:lnT>
                      <a:noFill/>
                    </a:lnT>
                    <a:lnB>
                      <a:noFill/>
                    </a:lnB>
                    <a:noFill/>
                  </a:tcPr>
                </a:tc>
                <a:tc>
                  <a:txBody>
                    <a:bodyPr/>
                    <a:lstStyle/>
                    <a:p>
                      <a:r>
                        <a:rPr sz="1400"/>
                        <a:t>- Train models: Logistic Regression</a:t>
                      </a:r>
                      <a:r>
                        <a:rPr lang="" sz="1400"/>
                        <a:t>, </a:t>
                      </a:r>
                      <a:r>
                        <a:rPr sz="1400"/>
                        <a:t>Decision Tree</a:t>
                      </a:r>
                      <a:r>
                        <a:rPr lang="" sz="1400"/>
                        <a:t>, </a:t>
                      </a:r>
                      <a:r>
                        <a:rPr sz="1400"/>
                        <a:t>Random Forest</a:t>
                      </a:r>
                      <a:r>
                        <a:rPr lang="" sz="1400"/>
                        <a:t>, </a:t>
                      </a:r>
                      <a:r>
                        <a:rPr sz="1400"/>
                        <a:t>KNN </a:t>
                      </a:r>
                    </a:p>
                    <a:p>
                      <a:r>
                        <a:rPr lang="" sz="1400"/>
                        <a:t>,</a:t>
                      </a:r>
                      <a:r>
                        <a:rPr sz="1400"/>
                        <a:t> SVM</a:t>
                      </a:r>
                    </a:p>
                  </a:txBody>
                  <a:tcPr marL="0" marR="0" marT="0" marB="0" anchor="ctr">
                    <a:lnL>
                      <a:noFill/>
                    </a:lnL>
                    <a:lnR>
                      <a:noFill/>
                    </a:lnR>
                    <a:lnT>
                      <a:noFill/>
                    </a:lnT>
                    <a:lnB>
                      <a:noFill/>
                    </a:lnB>
                    <a:noFill/>
                  </a:tcPr>
                </a:tc>
                <a:tc>
                  <a:txBody>
                    <a:bodyPr/>
                    <a:lstStyle/>
                    <a:p>
                      <a:r>
                        <a:rPr sz="1400"/>
                        <a:t>- train_models.py</a:t>
                      </a:r>
                    </a:p>
                  </a:txBody>
                  <a:tcPr marL="0" marR="0" marT="0" marB="0" anchor="ctr">
                    <a:lnL>
                      <a:noFill/>
                    </a:lnL>
                    <a:lnR>
                      <a:noFill/>
                    </a:lnR>
                    <a:lnT>
                      <a:noFill/>
                    </a:lnT>
                    <a:lnB>
                      <a:noFill/>
                    </a:lnB>
                    <a:noFill/>
                  </a:tcPr>
                </a:tc>
                <a:tc>
                  <a:txBody>
                    <a:bodyPr/>
                    <a:lstStyle/>
                    <a:p>
                      <a:r>
                        <a:rPr sz="1400"/>
                        <a:t>Python </a:t>
                      </a:r>
                      <a:r>
                        <a:rPr lang="" sz="1400"/>
                        <a:t>,</a:t>
                      </a:r>
                      <a:r>
                        <a:rPr sz="1400"/>
                        <a:t> scikit-learn (all models) </a:t>
                      </a:r>
                      <a:r>
                        <a:rPr lang="" sz="1400"/>
                        <a:t>,</a:t>
                      </a:r>
                      <a:r>
                        <a:rPr sz="1400"/>
                        <a:t> joblib / pickle (save models)</a:t>
                      </a:r>
                    </a:p>
                  </a:txBody>
                  <a:tcPr marL="0" marR="0" marT="0" marB="0" anchor="ctr">
                    <a:lnL>
                      <a:noFill/>
                    </a:lnL>
                    <a:lnR>
                      <a:noFill/>
                    </a:lnR>
                    <a:lnT>
                      <a:noFill/>
                    </a:lnT>
                    <a:lnB>
                      <a:noFill/>
                    </a:lnB>
                    <a:noFill/>
                  </a:tcPr>
                </a:tc>
                <a:extLst>
                  <a:ext uri="{0D108BD9-81ED-4DB2-BD59-A6C34878D82A}">
                    <a16:rowId xmlns:a16="http://schemas.microsoft.com/office/drawing/2014/main" val="10002"/>
                  </a:ext>
                </a:extLst>
              </a:tr>
              <a:tr h="1358900">
                <a:tc>
                  <a:txBody>
                    <a:bodyPr/>
                    <a:lstStyle/>
                    <a:p>
                      <a:r>
                        <a:rPr sz="1400" b="1"/>
                        <a:t>Member 3 – Evaluation Engineer</a:t>
                      </a:r>
                    </a:p>
                  </a:txBody>
                  <a:tcPr marL="0" marR="0" marT="0" marB="0" anchor="ctr">
                    <a:lnL>
                      <a:noFill/>
                    </a:lnL>
                    <a:lnR>
                      <a:noFill/>
                    </a:lnR>
                    <a:lnT>
                      <a:noFill/>
                    </a:lnT>
                    <a:lnB>
                      <a:noFill/>
                    </a:lnB>
                    <a:noFill/>
                  </a:tcPr>
                </a:tc>
                <a:tc>
                  <a:txBody>
                    <a:bodyPr/>
                    <a:lstStyle/>
                    <a:p>
                      <a:r>
                        <a:rPr sz="1400"/>
                        <a:t>- Evaluate models: Accuracy</a:t>
                      </a:r>
                      <a:r>
                        <a:rPr lang="" sz="1400"/>
                        <a:t>,</a:t>
                      </a:r>
                      <a:r>
                        <a:rPr sz="1400"/>
                        <a:t> Precision</a:t>
                      </a:r>
                      <a:r>
                        <a:rPr lang="" sz="1400"/>
                        <a:t>, </a:t>
                      </a:r>
                      <a:r>
                        <a:rPr sz="1400"/>
                        <a:t>Recall</a:t>
                      </a:r>
                      <a:r>
                        <a:rPr lang="" sz="1400"/>
                        <a:t>, </a:t>
                      </a:r>
                      <a:r>
                        <a:rPr sz="1400"/>
                        <a:t>F1-score</a:t>
                      </a:r>
                      <a:r>
                        <a:rPr lang="" sz="1400"/>
                        <a:t>, </a:t>
                      </a:r>
                      <a:r>
                        <a:rPr sz="1400"/>
                        <a:t>Confusion Matrix</a:t>
                      </a:r>
                      <a:r>
                        <a:rPr lang="" sz="1400"/>
                        <a:t>,</a:t>
                      </a:r>
                      <a:r>
                        <a:rPr sz="1400"/>
                        <a:t> Cross-validation - Generate comparison tables &amp; charts</a:t>
                      </a:r>
                    </a:p>
                  </a:txBody>
                  <a:tcPr marL="0" marR="0" marT="0" marB="0" anchor="ctr">
                    <a:lnL>
                      <a:noFill/>
                    </a:lnL>
                    <a:lnR>
                      <a:noFill/>
                    </a:lnR>
                    <a:lnT>
                      <a:noFill/>
                    </a:lnT>
                    <a:lnB>
                      <a:noFill/>
                    </a:lnB>
                    <a:noFill/>
                  </a:tcPr>
                </a:tc>
                <a:tc>
                  <a:txBody>
                    <a:bodyPr/>
                    <a:lstStyle/>
                    <a:p>
                      <a:r>
                        <a:rPr sz="1400"/>
                        <a:t>- evaluation.py</a:t>
                      </a:r>
                    </a:p>
                  </a:txBody>
                  <a:tcPr marL="0" marR="0" marT="0" marB="0" anchor="ctr">
                    <a:lnL>
                      <a:noFill/>
                    </a:lnL>
                    <a:lnR>
                      <a:noFill/>
                    </a:lnR>
                    <a:lnT>
                      <a:noFill/>
                    </a:lnT>
                    <a:lnB>
                      <a:noFill/>
                    </a:lnB>
                    <a:noFill/>
                  </a:tcPr>
                </a:tc>
                <a:tc>
                  <a:txBody>
                    <a:bodyPr/>
                    <a:lstStyle/>
                    <a:p>
                      <a:r>
                        <a:rPr sz="1400"/>
                        <a:t>Python </a:t>
                      </a:r>
                      <a:r>
                        <a:rPr lang="" sz="1400"/>
                        <a:t>,</a:t>
                      </a:r>
                      <a:r>
                        <a:rPr sz="1400"/>
                        <a:t> scikit-learn.metrics </a:t>
                      </a:r>
                      <a:r>
                        <a:rPr lang="" sz="1400"/>
                        <a:t>,</a:t>
                      </a:r>
                      <a:r>
                        <a:rPr sz="1400"/>
                        <a:t> scikit-learn.model_selection</a:t>
                      </a:r>
                      <a:r>
                        <a:rPr lang="" sz="1400"/>
                        <a:t>,</a:t>
                      </a:r>
                      <a:r>
                        <a:rPr sz="1400"/>
                        <a:t> matplotlib </a:t>
                      </a:r>
                      <a:r>
                        <a:rPr lang="" sz="1400"/>
                        <a:t>,</a:t>
                      </a:r>
                      <a:r>
                        <a:rPr sz="1400"/>
                        <a:t> seaborn </a:t>
                      </a:r>
                      <a:r>
                        <a:rPr lang="" sz="1400"/>
                        <a:t>,</a:t>
                      </a:r>
                      <a:r>
                        <a:rPr sz="1400"/>
                        <a:t> pandas</a:t>
                      </a:r>
                    </a:p>
                  </a:txBody>
                  <a:tcPr marL="0" marR="0" marT="0" marB="0" anchor="ctr">
                    <a:lnL>
                      <a:noFill/>
                    </a:lnL>
                    <a:lnR>
                      <a:noFill/>
                    </a:lnR>
                    <a:lnT>
                      <a:noFill/>
                    </a:lnT>
                    <a:lnB>
                      <a:noFill/>
                    </a:lnB>
                    <a:noFill/>
                  </a:tcPr>
                </a:tc>
                <a:extLst>
                  <a:ext uri="{0D108BD9-81ED-4DB2-BD59-A6C34878D82A}">
                    <a16:rowId xmlns:a16="http://schemas.microsoft.com/office/drawing/2014/main" val="10003"/>
                  </a:ext>
                </a:extLst>
              </a:tr>
              <a:tr h="1019175">
                <a:tc>
                  <a:txBody>
                    <a:bodyPr/>
                    <a:lstStyle/>
                    <a:p>
                      <a:r>
                        <a:rPr sz="1400" b="1"/>
                        <a:t>Member 4 – Frontend &amp; Integration</a:t>
                      </a:r>
                    </a:p>
                  </a:txBody>
                  <a:tcPr marL="0" marR="0" marT="0" marB="0" anchor="ctr">
                    <a:lnL>
                      <a:noFill/>
                    </a:lnL>
                    <a:lnR>
                      <a:noFill/>
                    </a:lnR>
                    <a:lnT>
                      <a:noFill/>
                    </a:lnT>
                    <a:lnB>
                      <a:noFill/>
                    </a:lnB>
                    <a:noFill/>
                  </a:tcPr>
                </a:tc>
                <a:tc>
                  <a:txBody>
                    <a:bodyPr/>
                    <a:lstStyle/>
                    <a:p>
                      <a:r>
                        <a:rPr sz="1400"/>
                        <a:t>- Develop Streamlit UI - Features:  Upload dataset </a:t>
                      </a:r>
                      <a:r>
                        <a:rPr lang="" sz="1400"/>
                        <a:t>,</a:t>
                      </a:r>
                      <a:r>
                        <a:rPr sz="1400"/>
                        <a:t>Train models Display metrics </a:t>
                      </a:r>
                      <a:r>
                        <a:rPr lang="" sz="1400"/>
                        <a:t>,</a:t>
                      </a:r>
                      <a:r>
                        <a:rPr sz="1400"/>
                        <a:t> Show graphs </a:t>
                      </a:r>
                      <a:r>
                        <a:rPr lang="" sz="1400"/>
                        <a:t>,</a:t>
                      </a:r>
                      <a:r>
                        <a:rPr sz="1400"/>
                        <a:t>Highlight best model</a:t>
                      </a:r>
                    </a:p>
                  </a:txBody>
                  <a:tcPr marL="0" marR="0" marT="0" marB="0" anchor="ctr">
                    <a:lnL>
                      <a:noFill/>
                    </a:lnL>
                    <a:lnR>
                      <a:noFill/>
                    </a:lnR>
                    <a:lnT>
                      <a:noFill/>
                    </a:lnT>
                    <a:lnB>
                      <a:noFill/>
                    </a:lnB>
                    <a:noFill/>
                  </a:tcPr>
                </a:tc>
                <a:tc>
                  <a:txBody>
                    <a:bodyPr/>
                    <a:lstStyle/>
                    <a:p>
                      <a:r>
                        <a:rPr sz="1400"/>
                        <a:t>- app.py</a:t>
                      </a:r>
                    </a:p>
                  </a:txBody>
                  <a:tcPr marL="0" marR="0" marT="0" marB="0" anchor="ctr">
                    <a:lnL>
                      <a:noFill/>
                    </a:lnL>
                    <a:lnR>
                      <a:noFill/>
                    </a:lnR>
                    <a:lnT>
                      <a:noFill/>
                    </a:lnT>
                    <a:lnB>
                      <a:noFill/>
                    </a:lnB>
                    <a:noFill/>
                  </a:tcPr>
                </a:tc>
                <a:tc>
                  <a:txBody>
                    <a:bodyPr/>
                    <a:lstStyle/>
                    <a:p>
                      <a:r>
                        <a:rPr sz="1400"/>
                        <a:t>Python </a:t>
                      </a:r>
                      <a:r>
                        <a:rPr lang="" sz="1400"/>
                        <a:t>,</a:t>
                      </a:r>
                      <a:r>
                        <a:rPr sz="1400"/>
                        <a:t>streamlit </a:t>
                      </a:r>
                      <a:r>
                        <a:rPr lang="" sz="1400"/>
                        <a:t>,</a:t>
                      </a:r>
                      <a:r>
                        <a:rPr sz="1400"/>
                        <a:t>matplotlib / seaborn</a:t>
                      </a:r>
                      <a:r>
                        <a:rPr lang="" sz="1400"/>
                        <a:t>,</a:t>
                      </a:r>
                      <a:r>
                        <a:rPr sz="1400"/>
                        <a:t> pandas</a:t>
                      </a:r>
                      <a:r>
                        <a:rPr lang="" sz="1400"/>
                        <a:t>, </a:t>
                      </a:r>
                      <a:r>
                        <a:rPr sz="1400"/>
                        <a:t>joblib (load models)</a:t>
                      </a:r>
                    </a:p>
                  </a:txBody>
                  <a:tcPr marL="0" marR="0" marT="0" marB="0" anchor="ctr">
                    <a:lnL>
                      <a:noFill/>
                    </a:lnL>
                    <a:lnR>
                      <a:noFill/>
                    </a:lnR>
                    <a:lnT>
                      <a:noFill/>
                    </a:lnT>
                    <a:lnB>
                      <a:no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383405"/>
          </a:xfrm>
        </p:spPr>
        <p:txBody>
          <a:bodyPr/>
          <a:lstStyle/>
          <a:p>
            <a:r>
              <a:rPr lang="en-IN" dirty="0">
                <a:sym typeface="+mn-ea"/>
              </a:rPr>
              <a:t>    </a:t>
            </a:r>
            <a:r>
              <a:rPr lang="" altLang="en-IN" dirty="0">
                <a:sym typeface="+mn-ea"/>
              </a:rPr>
              <a:t>                 </a:t>
            </a:r>
            <a:r>
              <a:rPr lang="en-IN" dirty="0">
                <a:sym typeface="+mn-ea"/>
              </a:rPr>
              <a:t>  </a:t>
            </a:r>
            <a:r>
              <a:rPr lang="en-IN" dirty="0">
                <a:latin typeface="Times New Roman" panose="02020603050405020304" pitchFamily="18" charset="0"/>
                <a:cs typeface="Times New Roman" panose="02020603050405020304" pitchFamily="18" charset="0"/>
                <a:sym typeface="+mn-ea"/>
              </a:rPr>
              <a:t>THANK YOU </a:t>
            </a:r>
            <a:endParaRPr lang="en-GB"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25*255"/>
  <p:tag name="TABLE_ENDDRAG_RECT" val="67*99*825*255"/>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25*347"/>
  <p:tag name="TABLE_ENDDRAG_RECT" val="67*184*825*34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1326</Words>
  <Application>Microsoft Office PowerPoint</Application>
  <PresentationFormat>Widescreen</PresentationFormat>
  <Paragraphs>105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Model Evaluation &amp; Comparison  System Using ML                                  Presented By:                                                  24B11CS403 -Savalam Vasanthi                                                   24B11CS540 - Joyleen R.Ruvoko                                                       24B11CS546- Believe Mangwayana                                                    24B11CS539 - Takudzwa Chipimo</vt:lpstr>
      <vt:lpstr> TITLE JUSTIFICATION</vt:lpstr>
      <vt:lpstr>ABSTRACT</vt:lpstr>
      <vt:lpstr>Existing System</vt:lpstr>
      <vt:lpstr>Literature Survey</vt:lpstr>
      <vt:lpstr>Proposed System</vt:lpstr>
      <vt:lpstr>Methodology</vt:lpstr>
      <vt:lpstr>PowerPoint Presentation</vt:lpstr>
      <vt:lpstr>Technologies Used</vt:lpstr>
      <vt:lpstr>                       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hamsini satti</dc:creator>
  <cp:lastModifiedBy>24B11CS539</cp:lastModifiedBy>
  <cp:revision>6</cp:revision>
  <dcterms:created xsi:type="dcterms:W3CDTF">2026-07-27T10:25:00Z</dcterms:created>
  <dcterms:modified xsi:type="dcterms:W3CDTF">2026-08-12T04:37:57Z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F6A25C74CE3C4B6E892A8039FD5FC2ED_12</vt:lpwstr>
  </property>
  <property fmtid="{D5CDD505-2E9C-101B-9397-08002B2CF9AE}" pid="3" name="KSOProductBuildVer">
    <vt:lpwstr>2057-12.2.0.23206</vt:lpwstr>
  </property>
</Properties>
</file>